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7EB8"/>
          </a:solidFill>
          <a:ln/>
        </p:spPr>
      </p:sp>
      <p:sp>
        <p:nvSpPr>
          <p:cNvPr id="3" name="Shape 1"/>
          <p:cNvSpPr/>
          <p:nvPr/>
        </p:nvSpPr>
        <p:spPr>
          <a:xfrm>
            <a:off x="0" y="4572000"/>
            <a:ext cx="9144000" cy="571500"/>
          </a:xfrm>
          <a:prstGeom prst="rect">
            <a:avLst/>
          </a:prstGeom>
          <a:solidFill>
            <a:srgbClr val="1E3A5F"/>
          </a:solidFill>
          <a:ln/>
        </p:spPr>
      </p:sp>
      <p:sp>
        <p:nvSpPr>
          <p:cNvPr id="4" name="Shape 2"/>
          <p:cNvSpPr/>
          <p:nvPr/>
        </p:nvSpPr>
        <p:spPr>
          <a:xfrm>
            <a:off x="6858000" y="731520"/>
            <a:ext cx="2011680" cy="3474720"/>
          </a:xfrm>
          <a:prstGeom prst="roundRect">
            <a:avLst>
              <a:gd name="adj" fmla="val 6818"/>
            </a:avLst>
          </a:prstGeom>
          <a:solidFill>
            <a:srgbClr val="1E3A5F"/>
          </a:solidFill>
          <a:ln w="15240">
            <a:solidFill>
              <a:srgbClr val="0F7EB8"/>
            </a:solidFill>
            <a:prstDash val="solid"/>
          </a:ln>
        </p:spPr>
      </p:sp>
      <p:pic>
        <p:nvPicPr>
          <p:cNvPr id="5" name="Image 0" descr="preencoded.png">    </p:cNvPr>
          <p:cNvPicPr>
            <a:picLocks noChangeAspect="1"/>
          </p:cNvPicPr>
          <p:nvPr/>
        </p:nvPicPr>
        <p:blipFill>
          <a:blip r:embed="rId1"/>
          <a:stretch>
            <a:fillRect/>
          </a:stretch>
        </p:blipFill>
        <p:spPr>
          <a:xfrm>
            <a:off x="7223760" y="1371600"/>
            <a:ext cx="1280160" cy="1280160"/>
          </a:xfrm>
          <a:prstGeom prst="rect">
            <a:avLst/>
          </a:prstGeom>
        </p:spPr>
      </p:pic>
      <p:sp>
        <p:nvSpPr>
          <p:cNvPr id="6" name="Shape 3"/>
          <p:cNvSpPr/>
          <p:nvPr/>
        </p:nvSpPr>
        <p:spPr>
          <a:xfrm>
            <a:off x="320040" y="256032"/>
            <a:ext cx="1463040" cy="274320"/>
          </a:xfrm>
          <a:prstGeom prst="rect">
            <a:avLst/>
          </a:prstGeom>
          <a:solidFill>
            <a:srgbClr val="0F7EB8"/>
          </a:solidFill>
          <a:ln/>
        </p:spPr>
      </p:sp>
      <p:sp>
        <p:nvSpPr>
          <p:cNvPr id="7" name="Text 4"/>
          <p:cNvSpPr/>
          <p:nvPr/>
        </p:nvSpPr>
        <p:spPr>
          <a:xfrm>
            <a:off x="320040" y="256032"/>
            <a:ext cx="1463040" cy="274320"/>
          </a:xfrm>
          <a:prstGeom prst="rect">
            <a:avLst/>
          </a:prstGeom>
          <a:noFill/>
          <a:ln/>
        </p:spPr>
        <p:txBody>
          <a:bodyPr wrap="square" lIns="0" tIns="0" rIns="0" bIns="0" rtlCol="0" anchor="ctr"/>
          <a:lstStyle/>
          <a:p>
            <a:pPr algn="ctr" indent="0" marL="0">
              <a:buNone/>
            </a:pPr>
            <a:r>
              <a:rPr lang="en-US" sz="800" b="1" dirty="0">
                <a:solidFill>
                  <a:srgbClr val="FFFFFF"/>
                </a:solidFill>
              </a:rPr>
              <a:t>CONFIDENTIAL</a:t>
            </a:r>
            <a:endParaRPr lang="en-US" sz="800" dirty="0"/>
          </a:p>
        </p:txBody>
      </p:sp>
      <p:sp>
        <p:nvSpPr>
          <p:cNvPr id="8" name="Text 5"/>
          <p:cNvSpPr/>
          <p:nvPr/>
        </p:nvSpPr>
        <p:spPr>
          <a:xfrm>
            <a:off x="320040" y="640080"/>
            <a:ext cx="6217920" cy="320040"/>
          </a:xfrm>
          <a:prstGeom prst="rect">
            <a:avLst/>
          </a:prstGeom>
          <a:noFill/>
          <a:ln/>
        </p:spPr>
        <p:txBody>
          <a:bodyPr wrap="square" rtlCol="0" anchor="ctr"/>
          <a:lstStyle/>
          <a:p>
            <a:pPr algn="l" indent="0" marL="0">
              <a:buNone/>
            </a:pPr>
            <a:r>
              <a:rPr lang="en-US" sz="1100" spc="400" kern="0" dirty="0">
                <a:solidFill>
                  <a:srgbClr val="3B9FD4"/>
                </a:solidFill>
              </a:rPr>
              <a:t>QUARTERLY BUSINESS REVIEW</a:t>
            </a:r>
            <a:endParaRPr lang="en-US" sz="1100" dirty="0"/>
          </a:p>
        </p:txBody>
      </p:sp>
      <p:sp>
        <p:nvSpPr>
          <p:cNvPr id="9" name="Text 6"/>
          <p:cNvSpPr/>
          <p:nvPr/>
        </p:nvSpPr>
        <p:spPr>
          <a:xfrm>
            <a:off x="320040" y="1051560"/>
            <a:ext cx="6217920" cy="1737360"/>
          </a:xfrm>
          <a:prstGeom prst="rect">
            <a:avLst/>
          </a:prstGeom>
          <a:noFill/>
          <a:ln/>
        </p:spPr>
        <p:txBody>
          <a:bodyPr wrap="square" rtlCol="0" anchor="t"/>
          <a:lstStyle/>
          <a:p>
            <a:pPr algn="l" indent="0" marL="0">
              <a:lnSpc>
                <a:spcPct val="115000"/>
              </a:lnSpc>
              <a:buNone/>
            </a:pPr>
            <a:r>
              <a:rPr lang="en-US" sz="3800" b="1" dirty="0">
                <a:solidFill>
                  <a:srgbClr val="FFFFFF"/>
                </a:solidFill>
              </a:rPr>
              <a:t>Pharma Sales Analytics</a:t>
            </a:r>
            <a:endParaRPr lang="en-US" sz="3800" dirty="0"/>
          </a:p>
          <a:p>
            <a:pPr algn="l" indent="0" marL="0">
              <a:lnSpc>
                <a:spcPct val="115000"/>
              </a:lnSpc>
              <a:buNone/>
            </a:pPr>
            <a:r>
              <a:rPr lang="en-US" sz="3800" b="1" dirty="0">
                <a:solidFill>
                  <a:srgbClr val="FFFFFF"/>
                </a:solidFill>
              </a:rPr>
              <a:t>&amp; Demand Forecasting</a:t>
            </a:r>
            <a:endParaRPr lang="en-US" sz="3800" dirty="0"/>
          </a:p>
        </p:txBody>
      </p:sp>
      <p:sp>
        <p:nvSpPr>
          <p:cNvPr id="10" name="Shape 7"/>
          <p:cNvSpPr/>
          <p:nvPr/>
        </p:nvSpPr>
        <p:spPr>
          <a:xfrm>
            <a:off x="320040" y="2907792"/>
            <a:ext cx="5669280" cy="0"/>
          </a:xfrm>
          <a:prstGeom prst="line">
            <a:avLst/>
          </a:prstGeom>
          <a:noFill/>
          <a:ln w="19050">
            <a:solidFill>
              <a:srgbClr val="0F7EB8"/>
            </a:solidFill>
            <a:prstDash val="solid"/>
          </a:ln>
        </p:spPr>
      </p:sp>
      <p:sp>
        <p:nvSpPr>
          <p:cNvPr id="11" name="Text 8"/>
          <p:cNvSpPr/>
          <p:nvPr/>
        </p:nvSpPr>
        <p:spPr>
          <a:xfrm>
            <a:off x="320040" y="3017520"/>
            <a:ext cx="6217920" cy="640080"/>
          </a:xfrm>
          <a:prstGeom prst="rect">
            <a:avLst/>
          </a:prstGeom>
          <a:noFill/>
          <a:ln/>
        </p:spPr>
        <p:txBody>
          <a:bodyPr wrap="square" rtlCol="0" anchor="ctr"/>
          <a:lstStyle/>
          <a:p>
            <a:pPr algn="l" indent="0" marL="0">
              <a:lnSpc>
                <a:spcPct val="140000"/>
              </a:lnSpc>
              <a:buNone/>
            </a:pPr>
            <a:r>
              <a:rPr lang="en-US" sz="1400" dirty="0">
                <a:solidFill>
                  <a:srgbClr val="94A3B8"/>
                </a:solidFill>
              </a:rPr>
              <a:t>Strategic Insights Across 8 Drug Categories</a:t>
            </a:r>
            <a:endParaRPr lang="en-US" sz="1400" dirty="0"/>
          </a:p>
          <a:p>
            <a:pPr algn="l" indent="0" marL="0">
              <a:lnSpc>
                <a:spcPct val="140000"/>
              </a:lnSpc>
              <a:buNone/>
            </a:pPr>
            <a:r>
              <a:rPr lang="en-US" sz="1400" dirty="0">
                <a:solidFill>
                  <a:srgbClr val="94A3B8"/>
                </a:solidFill>
              </a:rPr>
              <a:t>Multi-Year Weekly Sales Data</a:t>
            </a:r>
            <a:endParaRPr lang="en-US" sz="1400" dirty="0"/>
          </a:p>
        </p:txBody>
      </p:sp>
      <p:sp>
        <p:nvSpPr>
          <p:cNvPr id="12" name="Text 9"/>
          <p:cNvSpPr/>
          <p:nvPr/>
        </p:nvSpPr>
        <p:spPr>
          <a:xfrm>
            <a:off x="320040" y="4617720"/>
            <a:ext cx="8229600" cy="457200"/>
          </a:xfrm>
          <a:prstGeom prst="rect">
            <a:avLst/>
          </a:prstGeom>
          <a:noFill/>
          <a:ln/>
        </p:spPr>
        <p:txBody>
          <a:bodyPr wrap="square" rtlCol="0" anchor="ctr"/>
          <a:lstStyle/>
          <a:p>
            <a:pPr algn="l" indent="0" marL="0">
              <a:buNone/>
            </a:pPr>
            <a:r>
              <a:rPr lang="en-US" sz="1000" dirty="0">
                <a:solidFill>
                  <a:srgbClr val="94A3B8"/>
                </a:solidFill>
              </a:rPr>
              <a:t>Data Science &amp; Analytics Team  |  Q2 2025  |  Internal Use Only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137"/>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2000" b="1" dirty="0">
                <a:solidFill>
                  <a:srgbClr val="FFFFFF"/>
                </a:solidFill>
              </a:rPr>
              <a:t>Executive Summary</a:t>
            </a:r>
            <a:endParaRPr lang="en-US" sz="2000" dirty="0"/>
          </a:p>
        </p:txBody>
      </p:sp>
      <p:sp>
        <p:nvSpPr>
          <p:cNvPr id="4" name="Text 2"/>
          <p:cNvSpPr/>
          <p:nvPr/>
        </p:nvSpPr>
        <p:spPr>
          <a:xfrm>
            <a:off x="5943600" y="0"/>
            <a:ext cx="2926080" cy="685800"/>
          </a:xfrm>
          <a:prstGeom prst="rect">
            <a:avLst/>
          </a:prstGeom>
          <a:noFill/>
          <a:ln/>
        </p:spPr>
        <p:txBody>
          <a:bodyPr wrap="square" rtlCol="0" anchor="ctr"/>
          <a:lstStyle/>
          <a:p>
            <a:pPr algn="r" indent="0" marL="0">
              <a:buNone/>
            </a:pPr>
            <a:r>
              <a:rPr lang="en-US" sz="1000" dirty="0">
                <a:solidFill>
                  <a:srgbClr val="94A3B8"/>
                </a:solidFill>
              </a:rPr>
              <a:t>QBR  |  Pharma Sales Analytics</a:t>
            </a:r>
            <a:endParaRPr lang="en-US" sz="1000" dirty="0"/>
          </a:p>
        </p:txBody>
      </p:sp>
      <p:sp>
        <p:nvSpPr>
          <p:cNvPr id="5" name="Shape 3"/>
          <p:cNvSpPr/>
          <p:nvPr/>
        </p:nvSpPr>
        <p:spPr>
          <a:xfrm>
            <a:off x="320040" y="868680"/>
            <a:ext cx="2606040" cy="1051560"/>
          </a:xfrm>
          <a:prstGeom prst="rect">
            <a:avLst/>
          </a:prstGeom>
          <a:solidFill>
            <a:srgbClr val="0F7EB8"/>
          </a:solidFill>
          <a:ln/>
          <a:effectLst>
            <a:outerShdw sx="100000" sy="100000" kx="0" ky="0" algn="bl" rotWithShape="0" blurRad="101600" dist="38100" dir="8100000">
              <a:srgbClr val="000000">
                <a:alpha val="14000"/>
              </a:srgbClr>
            </a:outerShdw>
          </a:effectLst>
        </p:spPr>
      </p:sp>
      <p:pic>
        <p:nvPicPr>
          <p:cNvPr id="6" name="Image 0" descr="preencoded.png">    </p:cNvPr>
          <p:cNvPicPr>
            <a:picLocks noChangeAspect="1"/>
          </p:cNvPicPr>
          <p:nvPr/>
        </p:nvPicPr>
        <p:blipFill>
          <a:blip r:embed="rId1"/>
          <a:stretch>
            <a:fillRect/>
          </a:stretch>
        </p:blipFill>
        <p:spPr>
          <a:xfrm>
            <a:off x="484632" y="960120"/>
            <a:ext cx="365760" cy="365760"/>
          </a:xfrm>
          <a:prstGeom prst="rect">
            <a:avLst/>
          </a:prstGeom>
        </p:spPr>
      </p:pic>
      <p:sp>
        <p:nvSpPr>
          <p:cNvPr id="7" name="Text 4"/>
          <p:cNvSpPr/>
          <p:nvPr/>
        </p:nvSpPr>
        <p:spPr>
          <a:xfrm>
            <a:off x="960120" y="886968"/>
            <a:ext cx="1645920" cy="502920"/>
          </a:xfrm>
          <a:prstGeom prst="rect">
            <a:avLst/>
          </a:prstGeom>
          <a:noFill/>
          <a:ln/>
        </p:spPr>
        <p:txBody>
          <a:bodyPr wrap="square" rtlCol="0" anchor="ctr"/>
          <a:lstStyle/>
          <a:p>
            <a:pPr indent="0" marL="0">
              <a:buNone/>
            </a:pPr>
            <a:r>
              <a:rPr lang="en-US" sz="3000" b="1" dirty="0">
                <a:solidFill>
                  <a:srgbClr val="FFFFFF"/>
                </a:solidFill>
              </a:rPr>
              <a:t>8</a:t>
            </a:r>
            <a:endParaRPr lang="en-US" sz="3000" dirty="0"/>
          </a:p>
        </p:txBody>
      </p:sp>
      <p:sp>
        <p:nvSpPr>
          <p:cNvPr id="8" name="Text 5"/>
          <p:cNvSpPr/>
          <p:nvPr/>
        </p:nvSpPr>
        <p:spPr>
          <a:xfrm>
            <a:off x="484632" y="1371600"/>
            <a:ext cx="2331720" cy="475488"/>
          </a:xfrm>
          <a:prstGeom prst="rect">
            <a:avLst/>
          </a:prstGeom>
          <a:noFill/>
          <a:ln/>
        </p:spPr>
        <p:txBody>
          <a:bodyPr wrap="square" rtlCol="0" anchor="ctr"/>
          <a:lstStyle/>
          <a:p>
            <a:pPr algn="l" indent="0" marL="0">
              <a:buNone/>
            </a:pPr>
            <a:r>
              <a:rPr lang="en-US" sz="1000" dirty="0">
                <a:solidFill>
                  <a:srgbClr val="FFFFFF"/>
                </a:solidFill>
              </a:rPr>
              <a:t>Drug Categories</a:t>
            </a:r>
            <a:endParaRPr lang="en-US" sz="1000" dirty="0"/>
          </a:p>
          <a:p>
            <a:pPr algn="l" indent="0" marL="0">
              <a:buNone/>
            </a:pPr>
            <a:r>
              <a:rPr lang="en-US" sz="1000" dirty="0">
                <a:solidFill>
                  <a:srgbClr val="FFFFFF"/>
                </a:solidFill>
              </a:rPr>
              <a:t>Analysed</a:t>
            </a:r>
            <a:endParaRPr lang="en-US" sz="1000" dirty="0"/>
          </a:p>
        </p:txBody>
      </p:sp>
      <p:sp>
        <p:nvSpPr>
          <p:cNvPr id="9" name="Shape 6"/>
          <p:cNvSpPr/>
          <p:nvPr/>
        </p:nvSpPr>
        <p:spPr>
          <a:xfrm>
            <a:off x="3200400" y="868680"/>
            <a:ext cx="2606040" cy="1051560"/>
          </a:xfrm>
          <a:prstGeom prst="rect">
            <a:avLst/>
          </a:prstGeom>
          <a:solidFill>
            <a:srgbClr val="028090"/>
          </a:solidFill>
          <a:ln/>
          <a:effectLst>
            <a:outerShdw sx="100000" sy="100000" kx="0" ky="0" algn="bl" rotWithShape="0" blurRad="101600" dist="38100" dir="8100000">
              <a:srgbClr val="000000">
                <a:alpha val="14000"/>
              </a:srgbClr>
            </a:outerShdw>
          </a:effectLst>
        </p:spPr>
      </p:sp>
      <p:pic>
        <p:nvPicPr>
          <p:cNvPr id="10" name="Image 1" descr="preencoded.png">    </p:cNvPr>
          <p:cNvPicPr>
            <a:picLocks noChangeAspect="1"/>
          </p:cNvPicPr>
          <p:nvPr/>
        </p:nvPicPr>
        <p:blipFill>
          <a:blip r:embed="rId2"/>
          <a:stretch>
            <a:fillRect/>
          </a:stretch>
        </p:blipFill>
        <p:spPr>
          <a:xfrm>
            <a:off x="3364992" y="960120"/>
            <a:ext cx="365760" cy="365760"/>
          </a:xfrm>
          <a:prstGeom prst="rect">
            <a:avLst/>
          </a:prstGeom>
        </p:spPr>
      </p:pic>
      <p:sp>
        <p:nvSpPr>
          <p:cNvPr id="11" name="Text 7"/>
          <p:cNvSpPr/>
          <p:nvPr/>
        </p:nvSpPr>
        <p:spPr>
          <a:xfrm>
            <a:off x="3840480" y="886968"/>
            <a:ext cx="1645920" cy="502920"/>
          </a:xfrm>
          <a:prstGeom prst="rect">
            <a:avLst/>
          </a:prstGeom>
          <a:noFill/>
          <a:ln/>
        </p:spPr>
        <p:txBody>
          <a:bodyPr wrap="square" rtlCol="0" anchor="ctr"/>
          <a:lstStyle/>
          <a:p>
            <a:pPr indent="0" marL="0">
              <a:buNone/>
            </a:pPr>
            <a:r>
              <a:rPr lang="en-US" sz="3000" b="1" dirty="0">
                <a:solidFill>
                  <a:srgbClr val="FFFFFF"/>
                </a:solidFill>
              </a:rPr>
              <a:t>5+</a:t>
            </a:r>
            <a:endParaRPr lang="en-US" sz="3000" dirty="0"/>
          </a:p>
        </p:txBody>
      </p:sp>
      <p:sp>
        <p:nvSpPr>
          <p:cNvPr id="12" name="Text 8"/>
          <p:cNvSpPr/>
          <p:nvPr/>
        </p:nvSpPr>
        <p:spPr>
          <a:xfrm>
            <a:off x="3364992" y="1371600"/>
            <a:ext cx="2331720" cy="475488"/>
          </a:xfrm>
          <a:prstGeom prst="rect">
            <a:avLst/>
          </a:prstGeom>
          <a:noFill/>
          <a:ln/>
        </p:spPr>
        <p:txBody>
          <a:bodyPr wrap="square" rtlCol="0" anchor="ctr"/>
          <a:lstStyle/>
          <a:p>
            <a:pPr algn="l" indent="0" marL="0">
              <a:buNone/>
            </a:pPr>
            <a:r>
              <a:rPr lang="en-US" sz="1000" dirty="0">
                <a:solidFill>
                  <a:srgbClr val="FFFFFF"/>
                </a:solidFill>
              </a:rPr>
              <a:t>Forecasting Models</a:t>
            </a:r>
            <a:endParaRPr lang="en-US" sz="1000" dirty="0"/>
          </a:p>
          <a:p>
            <a:pPr algn="l" indent="0" marL="0">
              <a:buNone/>
            </a:pPr>
            <a:r>
              <a:rPr lang="en-US" sz="1000" dirty="0">
                <a:solidFill>
                  <a:srgbClr val="FFFFFF"/>
                </a:solidFill>
              </a:rPr>
              <a:t>Tested</a:t>
            </a:r>
            <a:endParaRPr lang="en-US" sz="1000" dirty="0"/>
          </a:p>
        </p:txBody>
      </p:sp>
      <p:sp>
        <p:nvSpPr>
          <p:cNvPr id="13" name="Shape 9"/>
          <p:cNvSpPr/>
          <p:nvPr/>
        </p:nvSpPr>
        <p:spPr>
          <a:xfrm>
            <a:off x="6080760" y="868680"/>
            <a:ext cx="2606040" cy="1051560"/>
          </a:xfrm>
          <a:prstGeom prst="rect">
            <a:avLst/>
          </a:prstGeom>
          <a:solidFill>
            <a:srgbClr val="0D2137"/>
          </a:solidFill>
          <a:ln/>
          <a:effectLst>
            <a:outerShdw sx="100000" sy="100000" kx="0" ky="0" algn="bl" rotWithShape="0" blurRad="101600" dist="38100" dir="8100000">
              <a:srgbClr val="000000">
                <a:alpha val="14000"/>
              </a:srgbClr>
            </a:outerShdw>
          </a:effectLst>
        </p:spPr>
      </p:sp>
      <p:pic>
        <p:nvPicPr>
          <p:cNvPr id="14" name="Image 2" descr="preencoded.png">    </p:cNvPr>
          <p:cNvPicPr>
            <a:picLocks noChangeAspect="1"/>
          </p:cNvPicPr>
          <p:nvPr/>
        </p:nvPicPr>
        <p:blipFill>
          <a:blip r:embed="rId3"/>
          <a:stretch>
            <a:fillRect/>
          </a:stretch>
        </p:blipFill>
        <p:spPr>
          <a:xfrm>
            <a:off x="6245352" y="960120"/>
            <a:ext cx="365760" cy="365760"/>
          </a:xfrm>
          <a:prstGeom prst="rect">
            <a:avLst/>
          </a:prstGeom>
        </p:spPr>
      </p:pic>
      <p:sp>
        <p:nvSpPr>
          <p:cNvPr id="15" name="Text 10"/>
          <p:cNvSpPr/>
          <p:nvPr/>
        </p:nvSpPr>
        <p:spPr>
          <a:xfrm>
            <a:off x="6720840" y="886968"/>
            <a:ext cx="1645920" cy="502920"/>
          </a:xfrm>
          <a:prstGeom prst="rect">
            <a:avLst/>
          </a:prstGeom>
          <a:noFill/>
          <a:ln/>
        </p:spPr>
        <p:txBody>
          <a:bodyPr wrap="square" rtlCol="0" anchor="ctr"/>
          <a:lstStyle/>
          <a:p>
            <a:pPr indent="0" marL="0">
              <a:buNone/>
            </a:pPr>
            <a:r>
              <a:rPr lang="en-US" sz="3000" b="1" dirty="0">
                <a:solidFill>
                  <a:srgbClr val="FFFFFF"/>
                </a:solidFill>
              </a:rPr>
              <a:t>3</a:t>
            </a:r>
            <a:endParaRPr lang="en-US" sz="3000" dirty="0"/>
          </a:p>
        </p:txBody>
      </p:sp>
      <p:sp>
        <p:nvSpPr>
          <p:cNvPr id="16" name="Text 11"/>
          <p:cNvSpPr/>
          <p:nvPr/>
        </p:nvSpPr>
        <p:spPr>
          <a:xfrm>
            <a:off x="6245352" y="1371600"/>
            <a:ext cx="2331720" cy="475488"/>
          </a:xfrm>
          <a:prstGeom prst="rect">
            <a:avLst/>
          </a:prstGeom>
          <a:noFill/>
          <a:ln/>
        </p:spPr>
        <p:txBody>
          <a:bodyPr wrap="square" rtlCol="0" anchor="ctr"/>
          <a:lstStyle/>
          <a:p>
            <a:pPr algn="l" indent="0" marL="0">
              <a:buNone/>
            </a:pPr>
            <a:r>
              <a:rPr lang="en-US" sz="1000" dirty="0">
                <a:solidFill>
                  <a:srgbClr val="FFFFFF"/>
                </a:solidFill>
              </a:rPr>
              <a:t>Strategic Actions</a:t>
            </a:r>
            <a:endParaRPr lang="en-US" sz="1000" dirty="0"/>
          </a:p>
          <a:p>
            <a:pPr algn="l" indent="0" marL="0">
              <a:buNone/>
            </a:pPr>
            <a:r>
              <a:rPr lang="en-US" sz="1000" dirty="0">
                <a:solidFill>
                  <a:srgbClr val="FFFFFF"/>
                </a:solidFill>
              </a:rPr>
              <a:t>Identified</a:t>
            </a:r>
            <a:endParaRPr lang="en-US" sz="1000" dirty="0"/>
          </a:p>
        </p:txBody>
      </p:sp>
      <p:sp>
        <p:nvSpPr>
          <p:cNvPr id="17" name="Shape 12"/>
          <p:cNvSpPr/>
          <p:nvPr/>
        </p:nvSpPr>
        <p:spPr>
          <a:xfrm>
            <a:off x="320040" y="2103120"/>
            <a:ext cx="4206240" cy="1261872"/>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18" name="Shape 13"/>
          <p:cNvSpPr/>
          <p:nvPr/>
        </p:nvSpPr>
        <p:spPr>
          <a:xfrm>
            <a:off x="320040" y="2103120"/>
            <a:ext cx="73152" cy="1261872"/>
          </a:xfrm>
          <a:prstGeom prst="rect">
            <a:avLst/>
          </a:prstGeom>
          <a:solidFill>
            <a:srgbClr val="0F7EB8"/>
          </a:solidFill>
          <a:ln/>
        </p:spPr>
      </p:sp>
      <p:sp>
        <p:nvSpPr>
          <p:cNvPr id="19" name="Text 14"/>
          <p:cNvSpPr/>
          <p:nvPr/>
        </p:nvSpPr>
        <p:spPr>
          <a:xfrm>
            <a:off x="484632" y="2194560"/>
            <a:ext cx="3931920" cy="292608"/>
          </a:xfrm>
          <a:prstGeom prst="rect">
            <a:avLst/>
          </a:prstGeom>
          <a:noFill/>
          <a:ln/>
        </p:spPr>
        <p:txBody>
          <a:bodyPr wrap="square" rtlCol="0" anchor="ctr"/>
          <a:lstStyle/>
          <a:p>
            <a:pPr indent="0" marL="0">
              <a:buNone/>
            </a:pPr>
            <a:r>
              <a:rPr lang="en-US" sz="1100" b="1" dirty="0">
                <a:solidFill>
                  <a:srgbClr val="0D2137"/>
                </a:solidFill>
              </a:rPr>
              <a:t>Portfolio splits into 3 predictability tiers</a:t>
            </a:r>
            <a:endParaRPr lang="en-US" sz="1100" dirty="0"/>
          </a:p>
        </p:txBody>
      </p:sp>
      <p:sp>
        <p:nvSpPr>
          <p:cNvPr id="20" name="Text 15"/>
          <p:cNvSpPr/>
          <p:nvPr/>
        </p:nvSpPr>
        <p:spPr>
          <a:xfrm>
            <a:off x="484632" y="2487168"/>
            <a:ext cx="3931920" cy="804672"/>
          </a:xfrm>
          <a:prstGeom prst="rect">
            <a:avLst/>
          </a:prstGeom>
          <a:noFill/>
          <a:ln/>
        </p:spPr>
        <p:txBody>
          <a:bodyPr wrap="square" rtlCol="0" anchor="ctr"/>
          <a:lstStyle/>
          <a:p>
            <a:pPr indent="0" marL="0">
              <a:lnSpc>
                <a:spcPct val="130000"/>
              </a:lnSpc>
              <a:buNone/>
            </a:pPr>
            <a:r>
              <a:rPr lang="en-US" sz="950" dirty="0">
                <a:solidFill>
                  <a:srgbClr val="475569"/>
                </a:solidFill>
              </a:rPr>
              <a:t>Your analgesics &amp; anti-inflammatories are highly forecastable (13–16% noise). Respiratory &amp; allergy drugs are moderately predictable but strongly seasonal. Sedatives are a wildcard — 3–4× more volatile than your core portfolio.</a:t>
            </a:r>
            <a:endParaRPr lang="en-US" sz="950" dirty="0"/>
          </a:p>
        </p:txBody>
      </p:sp>
      <p:sp>
        <p:nvSpPr>
          <p:cNvPr id="21" name="Shape 16"/>
          <p:cNvSpPr/>
          <p:nvPr/>
        </p:nvSpPr>
        <p:spPr>
          <a:xfrm>
            <a:off x="4754880" y="2103120"/>
            <a:ext cx="4206240" cy="1261872"/>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22" name="Shape 17"/>
          <p:cNvSpPr/>
          <p:nvPr/>
        </p:nvSpPr>
        <p:spPr>
          <a:xfrm>
            <a:off x="4754880" y="2103120"/>
            <a:ext cx="73152" cy="1261872"/>
          </a:xfrm>
          <a:prstGeom prst="rect">
            <a:avLst/>
          </a:prstGeom>
          <a:solidFill>
            <a:srgbClr val="028090"/>
          </a:solidFill>
          <a:ln/>
        </p:spPr>
      </p:sp>
      <p:sp>
        <p:nvSpPr>
          <p:cNvPr id="23" name="Text 18"/>
          <p:cNvSpPr/>
          <p:nvPr/>
        </p:nvSpPr>
        <p:spPr>
          <a:xfrm>
            <a:off x="4919472" y="2194560"/>
            <a:ext cx="3931920" cy="292608"/>
          </a:xfrm>
          <a:prstGeom prst="rect">
            <a:avLst/>
          </a:prstGeom>
          <a:noFill/>
          <a:ln/>
        </p:spPr>
        <p:txBody>
          <a:bodyPr wrap="square" rtlCol="0" anchor="ctr"/>
          <a:lstStyle/>
          <a:p>
            <a:pPr indent="0" marL="0">
              <a:buNone/>
            </a:pPr>
            <a:r>
              <a:rPr lang="en-US" sz="1100" b="1" dirty="0">
                <a:solidFill>
                  <a:srgbClr val="0D2137"/>
                </a:solidFill>
              </a:rPr>
              <a:t>Seasonal demand is real and actionable</a:t>
            </a:r>
            <a:endParaRPr lang="en-US" sz="1100" dirty="0"/>
          </a:p>
        </p:txBody>
      </p:sp>
      <p:sp>
        <p:nvSpPr>
          <p:cNvPr id="24" name="Text 19"/>
          <p:cNvSpPr/>
          <p:nvPr/>
        </p:nvSpPr>
        <p:spPr>
          <a:xfrm>
            <a:off x="4919472" y="2487168"/>
            <a:ext cx="3931920" cy="804672"/>
          </a:xfrm>
          <a:prstGeom prst="rect">
            <a:avLst/>
          </a:prstGeom>
          <a:noFill/>
          <a:ln/>
        </p:spPr>
        <p:txBody>
          <a:bodyPr wrap="square" rtlCol="0" anchor="ctr"/>
          <a:lstStyle/>
          <a:p>
            <a:pPr indent="0" marL="0">
              <a:lnSpc>
                <a:spcPct val="130000"/>
              </a:lnSpc>
              <a:buNone/>
            </a:pPr>
            <a:r>
              <a:rPr lang="en-US" sz="950" dirty="0">
                <a:solidFill>
                  <a:srgbClr val="475569"/>
                </a:solidFill>
              </a:rPr>
              <a:t>Respiratory (R03) and antihistamine (R06) categories show clear, repeating annual cycles. These are where stockouts and overstock risk are highest — and where better planning creates the most direct P&amp;L impact.</a:t>
            </a:r>
            <a:endParaRPr lang="en-US" sz="950" dirty="0"/>
          </a:p>
        </p:txBody>
      </p:sp>
      <p:sp>
        <p:nvSpPr>
          <p:cNvPr id="25" name="Shape 20"/>
          <p:cNvSpPr/>
          <p:nvPr/>
        </p:nvSpPr>
        <p:spPr>
          <a:xfrm>
            <a:off x="320040" y="3520440"/>
            <a:ext cx="4206240" cy="1261872"/>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26" name="Shape 21"/>
          <p:cNvSpPr/>
          <p:nvPr/>
        </p:nvSpPr>
        <p:spPr>
          <a:xfrm>
            <a:off x="320040" y="3520440"/>
            <a:ext cx="73152" cy="1261872"/>
          </a:xfrm>
          <a:prstGeom prst="rect">
            <a:avLst/>
          </a:prstGeom>
          <a:solidFill>
            <a:srgbClr val="D97706"/>
          </a:solidFill>
          <a:ln/>
        </p:spPr>
      </p:sp>
      <p:sp>
        <p:nvSpPr>
          <p:cNvPr id="27" name="Text 22"/>
          <p:cNvSpPr/>
          <p:nvPr/>
        </p:nvSpPr>
        <p:spPr>
          <a:xfrm>
            <a:off x="484632" y="3611880"/>
            <a:ext cx="3931920" cy="292608"/>
          </a:xfrm>
          <a:prstGeom prst="rect">
            <a:avLst/>
          </a:prstGeom>
          <a:noFill/>
          <a:ln/>
        </p:spPr>
        <p:txBody>
          <a:bodyPr wrap="square" rtlCol="0" anchor="ctr"/>
          <a:lstStyle/>
          <a:p>
            <a:pPr indent="0" marL="0">
              <a:buNone/>
            </a:pPr>
            <a:r>
              <a:rPr lang="en-US" sz="1100" b="1" dirty="0">
                <a:solidFill>
                  <a:srgbClr val="0D2137"/>
                </a:solidFill>
              </a:rPr>
              <a:t>Aspirin shows a structural demand decline</a:t>
            </a:r>
            <a:endParaRPr lang="en-US" sz="1100" dirty="0"/>
          </a:p>
        </p:txBody>
      </p:sp>
      <p:sp>
        <p:nvSpPr>
          <p:cNvPr id="28" name="Text 23"/>
          <p:cNvSpPr/>
          <p:nvPr/>
        </p:nvSpPr>
        <p:spPr>
          <a:xfrm>
            <a:off x="484632" y="3904488"/>
            <a:ext cx="3931920" cy="804672"/>
          </a:xfrm>
          <a:prstGeom prst="rect">
            <a:avLst/>
          </a:prstGeom>
          <a:noFill/>
          <a:ln/>
        </p:spPr>
        <p:txBody>
          <a:bodyPr wrap="square" rtlCol="0" anchor="ctr"/>
          <a:lstStyle/>
          <a:p>
            <a:pPr indent="0" marL="0">
              <a:lnSpc>
                <a:spcPct val="130000"/>
              </a:lnSpc>
              <a:buNone/>
            </a:pPr>
            <a:r>
              <a:rPr lang="en-US" sz="950" dirty="0">
                <a:solidFill>
                  <a:srgbClr val="475569"/>
                </a:solidFill>
              </a:rPr>
              <a:t>N02BA (aspirin) is the only product with a statistically significant long-term drift. Demand may be migrating toward paracetamol and ibuprofen. A deliberate portfolio review is warranted before the next planning cycle.</a:t>
            </a:r>
            <a:endParaRPr lang="en-US" sz="950" dirty="0"/>
          </a:p>
        </p:txBody>
      </p:sp>
      <p:sp>
        <p:nvSpPr>
          <p:cNvPr id="29" name="Shape 24"/>
          <p:cNvSpPr/>
          <p:nvPr/>
        </p:nvSpPr>
        <p:spPr>
          <a:xfrm>
            <a:off x="4754880" y="3520440"/>
            <a:ext cx="4206240" cy="1261872"/>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30" name="Shape 25"/>
          <p:cNvSpPr/>
          <p:nvPr/>
        </p:nvSpPr>
        <p:spPr>
          <a:xfrm>
            <a:off x="4754880" y="3520440"/>
            <a:ext cx="73152" cy="1261872"/>
          </a:xfrm>
          <a:prstGeom prst="rect">
            <a:avLst/>
          </a:prstGeom>
          <a:solidFill>
            <a:srgbClr val="0D2137"/>
          </a:solidFill>
          <a:ln/>
        </p:spPr>
      </p:sp>
      <p:sp>
        <p:nvSpPr>
          <p:cNvPr id="31" name="Text 26"/>
          <p:cNvSpPr/>
          <p:nvPr/>
        </p:nvSpPr>
        <p:spPr>
          <a:xfrm>
            <a:off x="4919472" y="3611880"/>
            <a:ext cx="3931920" cy="292608"/>
          </a:xfrm>
          <a:prstGeom prst="rect">
            <a:avLst/>
          </a:prstGeom>
          <a:noFill/>
          <a:ln/>
        </p:spPr>
        <p:txBody>
          <a:bodyPr wrap="square" rtlCol="0" anchor="ctr"/>
          <a:lstStyle/>
          <a:p>
            <a:pPr indent="0" marL="0">
              <a:buNone/>
            </a:pPr>
            <a:r>
              <a:rPr lang="en-US" sz="1100" b="1" dirty="0">
                <a:solidFill>
                  <a:srgbClr val="0D2137"/>
                </a:solidFill>
              </a:rPr>
              <a:t>Short-term forecasting is ready to operationalise</a:t>
            </a:r>
            <a:endParaRPr lang="en-US" sz="1100" dirty="0"/>
          </a:p>
        </p:txBody>
      </p:sp>
      <p:sp>
        <p:nvSpPr>
          <p:cNvPr id="32" name="Text 27"/>
          <p:cNvSpPr/>
          <p:nvPr/>
        </p:nvSpPr>
        <p:spPr>
          <a:xfrm>
            <a:off x="4919472" y="3904488"/>
            <a:ext cx="3931920" cy="804672"/>
          </a:xfrm>
          <a:prstGeom prst="rect">
            <a:avLst/>
          </a:prstGeom>
          <a:noFill/>
          <a:ln/>
        </p:spPr>
        <p:txBody>
          <a:bodyPr wrap="square" rtlCol="0" anchor="ctr"/>
          <a:lstStyle/>
          <a:p>
            <a:pPr indent="0" marL="0">
              <a:lnSpc>
                <a:spcPct val="130000"/>
              </a:lnSpc>
              <a:buNone/>
            </a:pPr>
            <a:r>
              <a:rPr lang="en-US" sz="950" dirty="0">
                <a:solidFill>
                  <a:srgbClr val="475569"/>
                </a:solidFill>
              </a:rPr>
              <a:t>Statistical models outperform current planning baselines across 7 of 8 categories. A production-ready weekly replenishment signal can be deployed for Tier 1 drugs immediately, with seasonal models for R03 and R06 to follow.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137"/>
          </a:solidFill>
          <a:ln/>
        </p:spPr>
      </p:sp>
      <p:sp>
        <p:nvSpPr>
          <p:cNvPr id="3" name="Text 1"/>
          <p:cNvSpPr/>
          <p:nvPr/>
        </p:nvSpPr>
        <p:spPr>
          <a:xfrm>
            <a:off x="365760" y="0"/>
            <a:ext cx="7315200" cy="685800"/>
          </a:xfrm>
          <a:prstGeom prst="rect">
            <a:avLst/>
          </a:prstGeom>
          <a:noFill/>
          <a:ln/>
        </p:spPr>
        <p:txBody>
          <a:bodyPr wrap="square" rtlCol="0" anchor="ctr"/>
          <a:lstStyle/>
          <a:p>
            <a:pPr indent="0" marL="0">
              <a:buNone/>
            </a:pPr>
            <a:r>
              <a:rPr lang="en-US" sz="2000" b="1" dirty="0">
                <a:solidFill>
                  <a:srgbClr val="FFFFFF"/>
                </a:solidFill>
              </a:rPr>
              <a:t>The Portfolio: 8 Drug Categories Under Analysis</a:t>
            </a:r>
            <a:endParaRPr lang="en-US" sz="2000" dirty="0"/>
          </a:p>
        </p:txBody>
      </p:sp>
      <p:sp>
        <p:nvSpPr>
          <p:cNvPr id="4" name="Text 2"/>
          <p:cNvSpPr/>
          <p:nvPr/>
        </p:nvSpPr>
        <p:spPr>
          <a:xfrm>
            <a:off x="5943600" y="0"/>
            <a:ext cx="2926080" cy="685800"/>
          </a:xfrm>
          <a:prstGeom prst="rect">
            <a:avLst/>
          </a:prstGeom>
          <a:noFill/>
          <a:ln/>
        </p:spPr>
        <p:txBody>
          <a:bodyPr wrap="square" rtlCol="0" anchor="ctr"/>
          <a:lstStyle/>
          <a:p>
            <a:pPr algn="r" indent="0" marL="0">
              <a:buNone/>
            </a:pPr>
            <a:r>
              <a:rPr lang="en-US" sz="1000" dirty="0">
                <a:solidFill>
                  <a:srgbClr val="94A3B8"/>
                </a:solidFill>
              </a:rPr>
              <a:t>QBR  |  Pharma Sales Analytics</a:t>
            </a:r>
            <a:endParaRPr lang="en-US" sz="1000" dirty="0"/>
          </a:p>
        </p:txBody>
      </p:sp>
      <p:sp>
        <p:nvSpPr>
          <p:cNvPr id="5" name="Shape 3"/>
          <p:cNvSpPr/>
          <p:nvPr/>
        </p:nvSpPr>
        <p:spPr>
          <a:xfrm>
            <a:off x="320040" y="868680"/>
            <a:ext cx="2011680" cy="182880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6" name="Shape 4"/>
          <p:cNvSpPr/>
          <p:nvPr/>
        </p:nvSpPr>
        <p:spPr>
          <a:xfrm>
            <a:off x="320040" y="868680"/>
            <a:ext cx="2011680" cy="438912"/>
          </a:xfrm>
          <a:prstGeom prst="rect">
            <a:avLst/>
          </a:prstGeom>
          <a:solidFill>
            <a:srgbClr val="0F7EB8"/>
          </a:solidFill>
          <a:ln/>
        </p:spPr>
      </p:sp>
      <p:sp>
        <p:nvSpPr>
          <p:cNvPr id="7" name="Text 5"/>
          <p:cNvSpPr/>
          <p:nvPr/>
        </p:nvSpPr>
        <p:spPr>
          <a:xfrm>
            <a:off x="320040" y="868680"/>
            <a:ext cx="2011680" cy="438912"/>
          </a:xfrm>
          <a:prstGeom prst="rect">
            <a:avLst/>
          </a:prstGeom>
          <a:noFill/>
          <a:ln/>
        </p:spPr>
        <p:txBody>
          <a:bodyPr wrap="square" rtlCol="0" anchor="ctr"/>
          <a:lstStyle/>
          <a:p>
            <a:pPr algn="ctr" indent="0" marL="0">
              <a:buNone/>
            </a:pPr>
            <a:r>
              <a:rPr lang="en-US" sz="1600" b="1" dirty="0">
                <a:solidFill>
                  <a:srgbClr val="FFFFFF"/>
                </a:solidFill>
              </a:rPr>
              <a:t>M01AB</a:t>
            </a:r>
            <a:endParaRPr lang="en-US" sz="1600" dirty="0"/>
          </a:p>
        </p:txBody>
      </p:sp>
      <p:sp>
        <p:nvSpPr>
          <p:cNvPr id="8" name="Text 6"/>
          <p:cNvSpPr/>
          <p:nvPr/>
        </p:nvSpPr>
        <p:spPr>
          <a:xfrm>
            <a:off x="411480" y="1371600"/>
            <a:ext cx="1828800" cy="457200"/>
          </a:xfrm>
          <a:prstGeom prst="rect">
            <a:avLst/>
          </a:prstGeom>
          <a:noFill/>
          <a:ln/>
        </p:spPr>
        <p:txBody>
          <a:bodyPr wrap="square" rtlCol="0" anchor="ctr"/>
          <a:lstStyle/>
          <a:p>
            <a:pPr algn="ctr" indent="0" marL="0">
              <a:buNone/>
            </a:pPr>
            <a:r>
              <a:rPr lang="en-US" sz="1300" b="1" dirty="0">
                <a:solidFill>
                  <a:srgbClr val="0D2137"/>
                </a:solidFill>
              </a:rPr>
              <a:t>Diclofenac</a:t>
            </a:r>
            <a:endParaRPr lang="en-US" sz="1300" dirty="0"/>
          </a:p>
        </p:txBody>
      </p:sp>
      <p:sp>
        <p:nvSpPr>
          <p:cNvPr id="9" name="Text 7"/>
          <p:cNvSpPr/>
          <p:nvPr/>
        </p:nvSpPr>
        <p:spPr>
          <a:xfrm>
            <a:off x="411480" y="1828800"/>
            <a:ext cx="1828800" cy="274320"/>
          </a:xfrm>
          <a:prstGeom prst="rect">
            <a:avLst/>
          </a:prstGeom>
          <a:noFill/>
          <a:ln/>
        </p:spPr>
        <p:txBody>
          <a:bodyPr wrap="square" rtlCol="0" anchor="ctr"/>
          <a:lstStyle/>
          <a:p>
            <a:pPr algn="ctr" indent="0" marL="0">
              <a:buNone/>
            </a:pPr>
            <a:r>
              <a:rPr lang="en-US" sz="950" dirty="0">
                <a:solidFill>
                  <a:srgbClr val="94A3B8"/>
                </a:solidFill>
              </a:rPr>
              <a:t>Anti-Inflammatory</a:t>
            </a:r>
            <a:endParaRPr lang="en-US" sz="950" dirty="0"/>
          </a:p>
        </p:txBody>
      </p:sp>
      <p:sp>
        <p:nvSpPr>
          <p:cNvPr id="10" name="Shape 8"/>
          <p:cNvSpPr/>
          <p:nvPr/>
        </p:nvSpPr>
        <p:spPr>
          <a:xfrm>
            <a:off x="640080" y="2258568"/>
            <a:ext cx="1371600" cy="256032"/>
          </a:xfrm>
          <a:prstGeom prst="roundRect">
            <a:avLst>
              <a:gd name="adj" fmla="val 17857"/>
            </a:avLst>
          </a:prstGeom>
          <a:solidFill>
            <a:srgbClr val="F0F4F8"/>
          </a:solidFill>
          <a:ln w="10160">
            <a:solidFill>
              <a:srgbClr val="0F7EB8"/>
            </a:solidFill>
            <a:prstDash val="solid"/>
          </a:ln>
        </p:spPr>
      </p:sp>
      <p:sp>
        <p:nvSpPr>
          <p:cNvPr id="11" name="Text 9"/>
          <p:cNvSpPr/>
          <p:nvPr/>
        </p:nvSpPr>
        <p:spPr>
          <a:xfrm>
            <a:off x="640080" y="2258568"/>
            <a:ext cx="1371600" cy="256032"/>
          </a:xfrm>
          <a:prstGeom prst="rect">
            <a:avLst/>
          </a:prstGeom>
          <a:noFill/>
          <a:ln/>
        </p:spPr>
        <p:txBody>
          <a:bodyPr wrap="square" rtlCol="0" anchor="ctr"/>
          <a:lstStyle/>
          <a:p>
            <a:pPr algn="ctr" indent="0" marL="0">
              <a:buNone/>
            </a:pPr>
            <a:r>
              <a:rPr lang="en-US" sz="750" b="1" dirty="0">
                <a:solidFill>
                  <a:srgbClr val="0F7EB8"/>
                </a:solidFill>
              </a:rPr>
              <a:t>ATC CLASS</a:t>
            </a:r>
            <a:endParaRPr lang="en-US" sz="750" dirty="0"/>
          </a:p>
        </p:txBody>
      </p:sp>
      <p:sp>
        <p:nvSpPr>
          <p:cNvPr id="12" name="Shape 10"/>
          <p:cNvSpPr/>
          <p:nvPr/>
        </p:nvSpPr>
        <p:spPr>
          <a:xfrm>
            <a:off x="2496312" y="868680"/>
            <a:ext cx="2011680" cy="182880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13" name="Shape 11"/>
          <p:cNvSpPr/>
          <p:nvPr/>
        </p:nvSpPr>
        <p:spPr>
          <a:xfrm>
            <a:off x="2496312" y="868680"/>
            <a:ext cx="2011680" cy="438912"/>
          </a:xfrm>
          <a:prstGeom prst="rect">
            <a:avLst/>
          </a:prstGeom>
          <a:solidFill>
            <a:srgbClr val="0F7EB8"/>
          </a:solidFill>
          <a:ln/>
        </p:spPr>
      </p:sp>
      <p:sp>
        <p:nvSpPr>
          <p:cNvPr id="14" name="Text 12"/>
          <p:cNvSpPr/>
          <p:nvPr/>
        </p:nvSpPr>
        <p:spPr>
          <a:xfrm>
            <a:off x="2496312" y="868680"/>
            <a:ext cx="2011680" cy="438912"/>
          </a:xfrm>
          <a:prstGeom prst="rect">
            <a:avLst/>
          </a:prstGeom>
          <a:noFill/>
          <a:ln/>
        </p:spPr>
        <p:txBody>
          <a:bodyPr wrap="square" rtlCol="0" anchor="ctr"/>
          <a:lstStyle/>
          <a:p>
            <a:pPr algn="ctr" indent="0" marL="0">
              <a:buNone/>
            </a:pPr>
            <a:r>
              <a:rPr lang="en-US" sz="1600" b="1" dirty="0">
                <a:solidFill>
                  <a:srgbClr val="FFFFFF"/>
                </a:solidFill>
              </a:rPr>
              <a:t>M01AE</a:t>
            </a:r>
            <a:endParaRPr lang="en-US" sz="1600" dirty="0"/>
          </a:p>
        </p:txBody>
      </p:sp>
      <p:sp>
        <p:nvSpPr>
          <p:cNvPr id="15" name="Text 13"/>
          <p:cNvSpPr/>
          <p:nvPr/>
        </p:nvSpPr>
        <p:spPr>
          <a:xfrm>
            <a:off x="2587752" y="1371600"/>
            <a:ext cx="1828800" cy="457200"/>
          </a:xfrm>
          <a:prstGeom prst="rect">
            <a:avLst/>
          </a:prstGeom>
          <a:noFill/>
          <a:ln/>
        </p:spPr>
        <p:txBody>
          <a:bodyPr wrap="square" rtlCol="0" anchor="ctr"/>
          <a:lstStyle/>
          <a:p>
            <a:pPr algn="ctr" indent="0" marL="0">
              <a:buNone/>
            </a:pPr>
            <a:r>
              <a:rPr lang="en-US" sz="1300" b="1" dirty="0">
                <a:solidFill>
                  <a:srgbClr val="0D2137"/>
                </a:solidFill>
              </a:rPr>
              <a:t>Ibuprofen</a:t>
            </a:r>
            <a:endParaRPr lang="en-US" sz="1300" dirty="0"/>
          </a:p>
        </p:txBody>
      </p:sp>
      <p:sp>
        <p:nvSpPr>
          <p:cNvPr id="16" name="Text 14"/>
          <p:cNvSpPr/>
          <p:nvPr/>
        </p:nvSpPr>
        <p:spPr>
          <a:xfrm>
            <a:off x="2587752" y="1828800"/>
            <a:ext cx="1828800" cy="274320"/>
          </a:xfrm>
          <a:prstGeom prst="rect">
            <a:avLst/>
          </a:prstGeom>
          <a:noFill/>
          <a:ln/>
        </p:spPr>
        <p:txBody>
          <a:bodyPr wrap="square" rtlCol="0" anchor="ctr"/>
          <a:lstStyle/>
          <a:p>
            <a:pPr algn="ctr" indent="0" marL="0">
              <a:buNone/>
            </a:pPr>
            <a:r>
              <a:rPr lang="en-US" sz="950" dirty="0">
                <a:solidFill>
                  <a:srgbClr val="94A3B8"/>
                </a:solidFill>
              </a:rPr>
              <a:t>Anti-Inflammatory</a:t>
            </a:r>
            <a:endParaRPr lang="en-US" sz="950" dirty="0"/>
          </a:p>
        </p:txBody>
      </p:sp>
      <p:sp>
        <p:nvSpPr>
          <p:cNvPr id="17" name="Shape 15"/>
          <p:cNvSpPr/>
          <p:nvPr/>
        </p:nvSpPr>
        <p:spPr>
          <a:xfrm>
            <a:off x="2816352" y="2258568"/>
            <a:ext cx="1371600" cy="256032"/>
          </a:xfrm>
          <a:prstGeom prst="roundRect">
            <a:avLst>
              <a:gd name="adj" fmla="val 17857"/>
            </a:avLst>
          </a:prstGeom>
          <a:solidFill>
            <a:srgbClr val="F0F4F8"/>
          </a:solidFill>
          <a:ln w="10160">
            <a:solidFill>
              <a:srgbClr val="0F7EB8"/>
            </a:solidFill>
            <a:prstDash val="solid"/>
          </a:ln>
        </p:spPr>
      </p:sp>
      <p:sp>
        <p:nvSpPr>
          <p:cNvPr id="18" name="Text 16"/>
          <p:cNvSpPr/>
          <p:nvPr/>
        </p:nvSpPr>
        <p:spPr>
          <a:xfrm>
            <a:off x="2816352" y="2258568"/>
            <a:ext cx="1371600" cy="256032"/>
          </a:xfrm>
          <a:prstGeom prst="rect">
            <a:avLst/>
          </a:prstGeom>
          <a:noFill/>
          <a:ln/>
        </p:spPr>
        <p:txBody>
          <a:bodyPr wrap="square" rtlCol="0" anchor="ctr"/>
          <a:lstStyle/>
          <a:p>
            <a:pPr algn="ctr" indent="0" marL="0">
              <a:buNone/>
            </a:pPr>
            <a:r>
              <a:rPr lang="en-US" sz="750" b="1" dirty="0">
                <a:solidFill>
                  <a:srgbClr val="0F7EB8"/>
                </a:solidFill>
              </a:rPr>
              <a:t>ATC CLASS</a:t>
            </a:r>
            <a:endParaRPr lang="en-US" sz="750" dirty="0"/>
          </a:p>
        </p:txBody>
      </p:sp>
      <p:sp>
        <p:nvSpPr>
          <p:cNvPr id="19" name="Shape 17"/>
          <p:cNvSpPr/>
          <p:nvPr/>
        </p:nvSpPr>
        <p:spPr>
          <a:xfrm>
            <a:off x="4672584" y="868680"/>
            <a:ext cx="2011680" cy="182880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20" name="Shape 18"/>
          <p:cNvSpPr/>
          <p:nvPr/>
        </p:nvSpPr>
        <p:spPr>
          <a:xfrm>
            <a:off x="4672584" y="868680"/>
            <a:ext cx="2011680" cy="438912"/>
          </a:xfrm>
          <a:prstGeom prst="rect">
            <a:avLst/>
          </a:prstGeom>
          <a:solidFill>
            <a:srgbClr val="D97706"/>
          </a:solidFill>
          <a:ln/>
        </p:spPr>
      </p:sp>
      <p:sp>
        <p:nvSpPr>
          <p:cNvPr id="21" name="Text 19"/>
          <p:cNvSpPr/>
          <p:nvPr/>
        </p:nvSpPr>
        <p:spPr>
          <a:xfrm>
            <a:off x="4672584" y="868680"/>
            <a:ext cx="2011680" cy="438912"/>
          </a:xfrm>
          <a:prstGeom prst="rect">
            <a:avLst/>
          </a:prstGeom>
          <a:noFill/>
          <a:ln/>
        </p:spPr>
        <p:txBody>
          <a:bodyPr wrap="square" rtlCol="0" anchor="ctr"/>
          <a:lstStyle/>
          <a:p>
            <a:pPr algn="ctr" indent="0" marL="0">
              <a:buNone/>
            </a:pPr>
            <a:r>
              <a:rPr lang="en-US" sz="1600" b="1" dirty="0">
                <a:solidFill>
                  <a:srgbClr val="FFFFFF"/>
                </a:solidFill>
              </a:rPr>
              <a:t>N02BA</a:t>
            </a:r>
            <a:endParaRPr lang="en-US" sz="1600" dirty="0"/>
          </a:p>
        </p:txBody>
      </p:sp>
      <p:sp>
        <p:nvSpPr>
          <p:cNvPr id="22" name="Text 20"/>
          <p:cNvSpPr/>
          <p:nvPr/>
        </p:nvSpPr>
        <p:spPr>
          <a:xfrm>
            <a:off x="4764024" y="1371600"/>
            <a:ext cx="1828800" cy="457200"/>
          </a:xfrm>
          <a:prstGeom prst="rect">
            <a:avLst/>
          </a:prstGeom>
          <a:noFill/>
          <a:ln/>
        </p:spPr>
        <p:txBody>
          <a:bodyPr wrap="square" rtlCol="0" anchor="ctr"/>
          <a:lstStyle/>
          <a:p>
            <a:pPr algn="ctr" indent="0" marL="0">
              <a:buNone/>
            </a:pPr>
            <a:r>
              <a:rPr lang="en-US" sz="1300" b="1" dirty="0">
                <a:solidFill>
                  <a:srgbClr val="0D2137"/>
                </a:solidFill>
              </a:rPr>
              <a:t>Aspirin</a:t>
            </a:r>
            <a:endParaRPr lang="en-US" sz="1300" dirty="0"/>
          </a:p>
        </p:txBody>
      </p:sp>
      <p:sp>
        <p:nvSpPr>
          <p:cNvPr id="23" name="Text 21"/>
          <p:cNvSpPr/>
          <p:nvPr/>
        </p:nvSpPr>
        <p:spPr>
          <a:xfrm>
            <a:off x="4764024" y="1828800"/>
            <a:ext cx="1828800" cy="274320"/>
          </a:xfrm>
          <a:prstGeom prst="rect">
            <a:avLst/>
          </a:prstGeom>
          <a:noFill/>
          <a:ln/>
        </p:spPr>
        <p:txBody>
          <a:bodyPr wrap="square" rtlCol="0" anchor="ctr"/>
          <a:lstStyle/>
          <a:p>
            <a:pPr algn="ctr" indent="0" marL="0">
              <a:buNone/>
            </a:pPr>
            <a:r>
              <a:rPr lang="en-US" sz="950" dirty="0">
                <a:solidFill>
                  <a:srgbClr val="94A3B8"/>
                </a:solidFill>
              </a:rPr>
              <a:t>Analgesic</a:t>
            </a:r>
            <a:endParaRPr lang="en-US" sz="950" dirty="0"/>
          </a:p>
        </p:txBody>
      </p:sp>
      <p:sp>
        <p:nvSpPr>
          <p:cNvPr id="24" name="Shape 22"/>
          <p:cNvSpPr/>
          <p:nvPr/>
        </p:nvSpPr>
        <p:spPr>
          <a:xfrm>
            <a:off x="4992624" y="2258568"/>
            <a:ext cx="1371600" cy="256032"/>
          </a:xfrm>
          <a:prstGeom prst="roundRect">
            <a:avLst>
              <a:gd name="adj" fmla="val 17857"/>
            </a:avLst>
          </a:prstGeom>
          <a:solidFill>
            <a:srgbClr val="F0F4F8"/>
          </a:solidFill>
          <a:ln w="10160">
            <a:solidFill>
              <a:srgbClr val="D97706"/>
            </a:solidFill>
            <a:prstDash val="solid"/>
          </a:ln>
        </p:spPr>
      </p:sp>
      <p:sp>
        <p:nvSpPr>
          <p:cNvPr id="25" name="Text 23"/>
          <p:cNvSpPr/>
          <p:nvPr/>
        </p:nvSpPr>
        <p:spPr>
          <a:xfrm>
            <a:off x="4992624" y="2258568"/>
            <a:ext cx="1371600" cy="256032"/>
          </a:xfrm>
          <a:prstGeom prst="rect">
            <a:avLst/>
          </a:prstGeom>
          <a:noFill/>
          <a:ln/>
        </p:spPr>
        <p:txBody>
          <a:bodyPr wrap="square" rtlCol="0" anchor="ctr"/>
          <a:lstStyle/>
          <a:p>
            <a:pPr algn="ctr" indent="0" marL="0">
              <a:buNone/>
            </a:pPr>
            <a:r>
              <a:rPr lang="en-US" sz="750" b="1" dirty="0">
                <a:solidFill>
                  <a:srgbClr val="D97706"/>
                </a:solidFill>
              </a:rPr>
              <a:t>ATC CLASS</a:t>
            </a:r>
            <a:endParaRPr lang="en-US" sz="750" dirty="0"/>
          </a:p>
        </p:txBody>
      </p:sp>
      <p:sp>
        <p:nvSpPr>
          <p:cNvPr id="26" name="Shape 24"/>
          <p:cNvSpPr/>
          <p:nvPr/>
        </p:nvSpPr>
        <p:spPr>
          <a:xfrm>
            <a:off x="6848856" y="868680"/>
            <a:ext cx="2011680" cy="182880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27" name="Shape 25"/>
          <p:cNvSpPr/>
          <p:nvPr/>
        </p:nvSpPr>
        <p:spPr>
          <a:xfrm>
            <a:off x="6848856" y="868680"/>
            <a:ext cx="2011680" cy="438912"/>
          </a:xfrm>
          <a:prstGeom prst="rect">
            <a:avLst/>
          </a:prstGeom>
          <a:solidFill>
            <a:srgbClr val="028090"/>
          </a:solidFill>
          <a:ln/>
        </p:spPr>
      </p:sp>
      <p:sp>
        <p:nvSpPr>
          <p:cNvPr id="28" name="Text 26"/>
          <p:cNvSpPr/>
          <p:nvPr/>
        </p:nvSpPr>
        <p:spPr>
          <a:xfrm>
            <a:off x="6848856" y="868680"/>
            <a:ext cx="2011680" cy="438912"/>
          </a:xfrm>
          <a:prstGeom prst="rect">
            <a:avLst/>
          </a:prstGeom>
          <a:noFill/>
          <a:ln/>
        </p:spPr>
        <p:txBody>
          <a:bodyPr wrap="square" rtlCol="0" anchor="ctr"/>
          <a:lstStyle/>
          <a:p>
            <a:pPr algn="ctr" indent="0" marL="0">
              <a:buNone/>
            </a:pPr>
            <a:r>
              <a:rPr lang="en-US" sz="1600" b="1" dirty="0">
                <a:solidFill>
                  <a:srgbClr val="FFFFFF"/>
                </a:solidFill>
              </a:rPr>
              <a:t>N02BE</a:t>
            </a:r>
            <a:endParaRPr lang="en-US" sz="1600" dirty="0"/>
          </a:p>
        </p:txBody>
      </p:sp>
      <p:sp>
        <p:nvSpPr>
          <p:cNvPr id="29" name="Text 27"/>
          <p:cNvSpPr/>
          <p:nvPr/>
        </p:nvSpPr>
        <p:spPr>
          <a:xfrm>
            <a:off x="6940296" y="1371600"/>
            <a:ext cx="1828800" cy="457200"/>
          </a:xfrm>
          <a:prstGeom prst="rect">
            <a:avLst/>
          </a:prstGeom>
          <a:noFill/>
          <a:ln/>
        </p:spPr>
        <p:txBody>
          <a:bodyPr wrap="square" rtlCol="0" anchor="ctr"/>
          <a:lstStyle/>
          <a:p>
            <a:pPr algn="ctr" indent="0" marL="0">
              <a:buNone/>
            </a:pPr>
            <a:r>
              <a:rPr lang="en-US" sz="1300" b="1" dirty="0">
                <a:solidFill>
                  <a:srgbClr val="0D2137"/>
                </a:solidFill>
              </a:rPr>
              <a:t>Paracetamol</a:t>
            </a:r>
            <a:endParaRPr lang="en-US" sz="1300" dirty="0"/>
          </a:p>
        </p:txBody>
      </p:sp>
      <p:sp>
        <p:nvSpPr>
          <p:cNvPr id="30" name="Text 28"/>
          <p:cNvSpPr/>
          <p:nvPr/>
        </p:nvSpPr>
        <p:spPr>
          <a:xfrm>
            <a:off x="6940296" y="1828800"/>
            <a:ext cx="1828800" cy="274320"/>
          </a:xfrm>
          <a:prstGeom prst="rect">
            <a:avLst/>
          </a:prstGeom>
          <a:noFill/>
          <a:ln/>
        </p:spPr>
        <p:txBody>
          <a:bodyPr wrap="square" rtlCol="0" anchor="ctr"/>
          <a:lstStyle/>
          <a:p>
            <a:pPr algn="ctr" indent="0" marL="0">
              <a:buNone/>
            </a:pPr>
            <a:r>
              <a:rPr lang="en-US" sz="950" dirty="0">
                <a:solidFill>
                  <a:srgbClr val="94A3B8"/>
                </a:solidFill>
              </a:rPr>
              <a:t>Analgesic</a:t>
            </a:r>
            <a:endParaRPr lang="en-US" sz="950" dirty="0"/>
          </a:p>
        </p:txBody>
      </p:sp>
      <p:sp>
        <p:nvSpPr>
          <p:cNvPr id="31" name="Shape 29"/>
          <p:cNvSpPr/>
          <p:nvPr/>
        </p:nvSpPr>
        <p:spPr>
          <a:xfrm>
            <a:off x="7168896" y="2258568"/>
            <a:ext cx="1371600" cy="256032"/>
          </a:xfrm>
          <a:prstGeom prst="roundRect">
            <a:avLst>
              <a:gd name="adj" fmla="val 17857"/>
            </a:avLst>
          </a:prstGeom>
          <a:solidFill>
            <a:srgbClr val="F0F4F8"/>
          </a:solidFill>
          <a:ln w="10160">
            <a:solidFill>
              <a:srgbClr val="028090"/>
            </a:solidFill>
            <a:prstDash val="solid"/>
          </a:ln>
        </p:spPr>
      </p:sp>
      <p:sp>
        <p:nvSpPr>
          <p:cNvPr id="32" name="Text 30"/>
          <p:cNvSpPr/>
          <p:nvPr/>
        </p:nvSpPr>
        <p:spPr>
          <a:xfrm>
            <a:off x="7168896" y="2258568"/>
            <a:ext cx="1371600" cy="256032"/>
          </a:xfrm>
          <a:prstGeom prst="rect">
            <a:avLst/>
          </a:prstGeom>
          <a:noFill/>
          <a:ln/>
        </p:spPr>
        <p:txBody>
          <a:bodyPr wrap="square" rtlCol="0" anchor="ctr"/>
          <a:lstStyle/>
          <a:p>
            <a:pPr algn="ctr" indent="0" marL="0">
              <a:buNone/>
            </a:pPr>
            <a:r>
              <a:rPr lang="en-US" sz="750" b="1" dirty="0">
                <a:solidFill>
                  <a:srgbClr val="028090"/>
                </a:solidFill>
              </a:rPr>
              <a:t>ATC CLASS</a:t>
            </a:r>
            <a:endParaRPr lang="en-US" sz="750" dirty="0"/>
          </a:p>
        </p:txBody>
      </p:sp>
      <p:sp>
        <p:nvSpPr>
          <p:cNvPr id="33" name="Shape 31"/>
          <p:cNvSpPr/>
          <p:nvPr/>
        </p:nvSpPr>
        <p:spPr>
          <a:xfrm>
            <a:off x="320040" y="2926080"/>
            <a:ext cx="2011680" cy="182880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34" name="Shape 32"/>
          <p:cNvSpPr/>
          <p:nvPr/>
        </p:nvSpPr>
        <p:spPr>
          <a:xfrm>
            <a:off x="320040" y="2926080"/>
            <a:ext cx="2011680" cy="438912"/>
          </a:xfrm>
          <a:prstGeom prst="rect">
            <a:avLst/>
          </a:prstGeom>
          <a:solidFill>
            <a:srgbClr val="475569"/>
          </a:solidFill>
          <a:ln/>
        </p:spPr>
      </p:sp>
      <p:sp>
        <p:nvSpPr>
          <p:cNvPr id="35" name="Text 33"/>
          <p:cNvSpPr/>
          <p:nvPr/>
        </p:nvSpPr>
        <p:spPr>
          <a:xfrm>
            <a:off x="320040" y="2926080"/>
            <a:ext cx="2011680" cy="438912"/>
          </a:xfrm>
          <a:prstGeom prst="rect">
            <a:avLst/>
          </a:prstGeom>
          <a:noFill/>
          <a:ln/>
        </p:spPr>
        <p:txBody>
          <a:bodyPr wrap="square" rtlCol="0" anchor="ctr"/>
          <a:lstStyle/>
          <a:p>
            <a:pPr algn="ctr" indent="0" marL="0">
              <a:buNone/>
            </a:pPr>
            <a:r>
              <a:rPr lang="en-US" sz="1600" b="1" dirty="0">
                <a:solidFill>
                  <a:srgbClr val="FFFFFF"/>
                </a:solidFill>
              </a:rPr>
              <a:t>N05B</a:t>
            </a:r>
            <a:endParaRPr lang="en-US" sz="1600" dirty="0"/>
          </a:p>
        </p:txBody>
      </p:sp>
      <p:sp>
        <p:nvSpPr>
          <p:cNvPr id="36" name="Text 34"/>
          <p:cNvSpPr/>
          <p:nvPr/>
        </p:nvSpPr>
        <p:spPr>
          <a:xfrm>
            <a:off x="411480" y="3429000"/>
            <a:ext cx="1828800" cy="457200"/>
          </a:xfrm>
          <a:prstGeom prst="rect">
            <a:avLst/>
          </a:prstGeom>
          <a:noFill/>
          <a:ln/>
        </p:spPr>
        <p:txBody>
          <a:bodyPr wrap="square" rtlCol="0" anchor="ctr"/>
          <a:lstStyle/>
          <a:p>
            <a:pPr algn="ctr" indent="0" marL="0">
              <a:buNone/>
            </a:pPr>
            <a:r>
              <a:rPr lang="en-US" sz="1300" b="1" dirty="0">
                <a:solidFill>
                  <a:srgbClr val="0D2137"/>
                </a:solidFill>
              </a:rPr>
              <a:t>Anxiolytics</a:t>
            </a:r>
            <a:endParaRPr lang="en-US" sz="1300" dirty="0"/>
          </a:p>
        </p:txBody>
      </p:sp>
      <p:sp>
        <p:nvSpPr>
          <p:cNvPr id="37" name="Text 35"/>
          <p:cNvSpPr/>
          <p:nvPr/>
        </p:nvSpPr>
        <p:spPr>
          <a:xfrm>
            <a:off x="411480" y="3886200"/>
            <a:ext cx="1828800" cy="274320"/>
          </a:xfrm>
          <a:prstGeom prst="rect">
            <a:avLst/>
          </a:prstGeom>
          <a:noFill/>
          <a:ln/>
        </p:spPr>
        <p:txBody>
          <a:bodyPr wrap="square" rtlCol="0" anchor="ctr"/>
          <a:lstStyle/>
          <a:p>
            <a:pPr algn="ctr" indent="0" marL="0">
              <a:buNone/>
            </a:pPr>
            <a:r>
              <a:rPr lang="en-US" sz="950" dirty="0">
                <a:solidFill>
                  <a:srgbClr val="94A3B8"/>
                </a:solidFill>
              </a:rPr>
              <a:t>CNS / Psych</a:t>
            </a:r>
            <a:endParaRPr lang="en-US" sz="950" dirty="0"/>
          </a:p>
        </p:txBody>
      </p:sp>
      <p:sp>
        <p:nvSpPr>
          <p:cNvPr id="38" name="Shape 36"/>
          <p:cNvSpPr/>
          <p:nvPr/>
        </p:nvSpPr>
        <p:spPr>
          <a:xfrm>
            <a:off x="640080" y="4315968"/>
            <a:ext cx="1371600" cy="256032"/>
          </a:xfrm>
          <a:prstGeom prst="roundRect">
            <a:avLst>
              <a:gd name="adj" fmla="val 17857"/>
            </a:avLst>
          </a:prstGeom>
          <a:solidFill>
            <a:srgbClr val="F0F4F8"/>
          </a:solidFill>
          <a:ln w="10160">
            <a:solidFill>
              <a:srgbClr val="475569"/>
            </a:solidFill>
            <a:prstDash val="solid"/>
          </a:ln>
        </p:spPr>
      </p:sp>
      <p:sp>
        <p:nvSpPr>
          <p:cNvPr id="39" name="Text 37"/>
          <p:cNvSpPr/>
          <p:nvPr/>
        </p:nvSpPr>
        <p:spPr>
          <a:xfrm>
            <a:off x="640080" y="4315968"/>
            <a:ext cx="1371600" cy="256032"/>
          </a:xfrm>
          <a:prstGeom prst="rect">
            <a:avLst/>
          </a:prstGeom>
          <a:noFill/>
          <a:ln/>
        </p:spPr>
        <p:txBody>
          <a:bodyPr wrap="square" rtlCol="0" anchor="ctr"/>
          <a:lstStyle/>
          <a:p>
            <a:pPr algn="ctr" indent="0" marL="0">
              <a:buNone/>
            </a:pPr>
            <a:r>
              <a:rPr lang="en-US" sz="750" b="1" dirty="0">
                <a:solidFill>
                  <a:srgbClr val="475569"/>
                </a:solidFill>
              </a:rPr>
              <a:t>ATC CLASS</a:t>
            </a:r>
            <a:endParaRPr lang="en-US" sz="750" dirty="0"/>
          </a:p>
        </p:txBody>
      </p:sp>
      <p:sp>
        <p:nvSpPr>
          <p:cNvPr id="40" name="Shape 38"/>
          <p:cNvSpPr/>
          <p:nvPr/>
        </p:nvSpPr>
        <p:spPr>
          <a:xfrm>
            <a:off x="2496312" y="2926080"/>
            <a:ext cx="2011680" cy="182880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41" name="Shape 39"/>
          <p:cNvSpPr/>
          <p:nvPr/>
        </p:nvSpPr>
        <p:spPr>
          <a:xfrm>
            <a:off x="2496312" y="2926080"/>
            <a:ext cx="2011680" cy="438912"/>
          </a:xfrm>
          <a:prstGeom prst="rect">
            <a:avLst/>
          </a:prstGeom>
          <a:solidFill>
            <a:srgbClr val="C0392B"/>
          </a:solidFill>
          <a:ln/>
        </p:spPr>
      </p:sp>
      <p:sp>
        <p:nvSpPr>
          <p:cNvPr id="42" name="Text 40"/>
          <p:cNvSpPr/>
          <p:nvPr/>
        </p:nvSpPr>
        <p:spPr>
          <a:xfrm>
            <a:off x="2496312" y="2926080"/>
            <a:ext cx="2011680" cy="438912"/>
          </a:xfrm>
          <a:prstGeom prst="rect">
            <a:avLst/>
          </a:prstGeom>
          <a:noFill/>
          <a:ln/>
        </p:spPr>
        <p:txBody>
          <a:bodyPr wrap="square" rtlCol="0" anchor="ctr"/>
          <a:lstStyle/>
          <a:p>
            <a:pPr algn="ctr" indent="0" marL="0">
              <a:buNone/>
            </a:pPr>
            <a:r>
              <a:rPr lang="en-US" sz="1600" b="1" dirty="0">
                <a:solidFill>
                  <a:srgbClr val="FFFFFF"/>
                </a:solidFill>
              </a:rPr>
              <a:t>N05C</a:t>
            </a:r>
            <a:endParaRPr lang="en-US" sz="1600" dirty="0"/>
          </a:p>
        </p:txBody>
      </p:sp>
      <p:sp>
        <p:nvSpPr>
          <p:cNvPr id="43" name="Text 41"/>
          <p:cNvSpPr/>
          <p:nvPr/>
        </p:nvSpPr>
        <p:spPr>
          <a:xfrm>
            <a:off x="2587752" y="3429000"/>
            <a:ext cx="1828800" cy="457200"/>
          </a:xfrm>
          <a:prstGeom prst="rect">
            <a:avLst/>
          </a:prstGeom>
          <a:noFill/>
          <a:ln/>
        </p:spPr>
        <p:txBody>
          <a:bodyPr wrap="square" rtlCol="0" anchor="ctr"/>
          <a:lstStyle/>
          <a:p>
            <a:pPr algn="ctr" indent="0" marL="0">
              <a:buNone/>
            </a:pPr>
            <a:r>
              <a:rPr lang="en-US" sz="1300" b="1" dirty="0">
                <a:solidFill>
                  <a:srgbClr val="0D2137"/>
                </a:solidFill>
              </a:rPr>
              <a:t>Sedatives</a:t>
            </a:r>
            <a:endParaRPr lang="en-US" sz="1300" dirty="0"/>
          </a:p>
        </p:txBody>
      </p:sp>
      <p:sp>
        <p:nvSpPr>
          <p:cNvPr id="44" name="Text 42"/>
          <p:cNvSpPr/>
          <p:nvPr/>
        </p:nvSpPr>
        <p:spPr>
          <a:xfrm>
            <a:off x="2587752" y="3886200"/>
            <a:ext cx="1828800" cy="274320"/>
          </a:xfrm>
          <a:prstGeom prst="rect">
            <a:avLst/>
          </a:prstGeom>
          <a:noFill/>
          <a:ln/>
        </p:spPr>
        <p:txBody>
          <a:bodyPr wrap="square" rtlCol="0" anchor="ctr"/>
          <a:lstStyle/>
          <a:p>
            <a:pPr algn="ctr" indent="0" marL="0">
              <a:buNone/>
            </a:pPr>
            <a:r>
              <a:rPr lang="en-US" sz="950" dirty="0">
                <a:solidFill>
                  <a:srgbClr val="94A3B8"/>
                </a:solidFill>
              </a:rPr>
              <a:t>CNS / Psych</a:t>
            </a:r>
            <a:endParaRPr lang="en-US" sz="950" dirty="0"/>
          </a:p>
        </p:txBody>
      </p:sp>
      <p:sp>
        <p:nvSpPr>
          <p:cNvPr id="45" name="Shape 43"/>
          <p:cNvSpPr/>
          <p:nvPr/>
        </p:nvSpPr>
        <p:spPr>
          <a:xfrm>
            <a:off x="2816352" y="4315968"/>
            <a:ext cx="1371600" cy="256032"/>
          </a:xfrm>
          <a:prstGeom prst="roundRect">
            <a:avLst>
              <a:gd name="adj" fmla="val 17857"/>
            </a:avLst>
          </a:prstGeom>
          <a:solidFill>
            <a:srgbClr val="F0F4F8"/>
          </a:solidFill>
          <a:ln w="10160">
            <a:solidFill>
              <a:srgbClr val="C0392B"/>
            </a:solidFill>
            <a:prstDash val="solid"/>
          </a:ln>
        </p:spPr>
      </p:sp>
      <p:sp>
        <p:nvSpPr>
          <p:cNvPr id="46" name="Text 44"/>
          <p:cNvSpPr/>
          <p:nvPr/>
        </p:nvSpPr>
        <p:spPr>
          <a:xfrm>
            <a:off x="2816352" y="4315968"/>
            <a:ext cx="1371600" cy="256032"/>
          </a:xfrm>
          <a:prstGeom prst="rect">
            <a:avLst/>
          </a:prstGeom>
          <a:noFill/>
          <a:ln/>
        </p:spPr>
        <p:txBody>
          <a:bodyPr wrap="square" rtlCol="0" anchor="ctr"/>
          <a:lstStyle/>
          <a:p>
            <a:pPr algn="ctr" indent="0" marL="0">
              <a:buNone/>
            </a:pPr>
            <a:r>
              <a:rPr lang="en-US" sz="750" b="1" dirty="0">
                <a:solidFill>
                  <a:srgbClr val="C0392B"/>
                </a:solidFill>
              </a:rPr>
              <a:t>ATC CLASS</a:t>
            </a:r>
            <a:endParaRPr lang="en-US" sz="750" dirty="0"/>
          </a:p>
        </p:txBody>
      </p:sp>
      <p:sp>
        <p:nvSpPr>
          <p:cNvPr id="47" name="Shape 45"/>
          <p:cNvSpPr/>
          <p:nvPr/>
        </p:nvSpPr>
        <p:spPr>
          <a:xfrm>
            <a:off x="4672584" y="2926080"/>
            <a:ext cx="2011680" cy="182880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48" name="Shape 46"/>
          <p:cNvSpPr/>
          <p:nvPr/>
        </p:nvSpPr>
        <p:spPr>
          <a:xfrm>
            <a:off x="4672584" y="2926080"/>
            <a:ext cx="2011680" cy="438912"/>
          </a:xfrm>
          <a:prstGeom prst="rect">
            <a:avLst/>
          </a:prstGeom>
          <a:solidFill>
            <a:srgbClr val="102A45"/>
          </a:solidFill>
          <a:ln/>
        </p:spPr>
      </p:sp>
      <p:sp>
        <p:nvSpPr>
          <p:cNvPr id="49" name="Text 47"/>
          <p:cNvSpPr/>
          <p:nvPr/>
        </p:nvSpPr>
        <p:spPr>
          <a:xfrm>
            <a:off x="4672584" y="2926080"/>
            <a:ext cx="2011680" cy="438912"/>
          </a:xfrm>
          <a:prstGeom prst="rect">
            <a:avLst/>
          </a:prstGeom>
          <a:noFill/>
          <a:ln/>
        </p:spPr>
        <p:txBody>
          <a:bodyPr wrap="square" rtlCol="0" anchor="ctr"/>
          <a:lstStyle/>
          <a:p>
            <a:pPr algn="ctr" indent="0" marL="0">
              <a:buNone/>
            </a:pPr>
            <a:r>
              <a:rPr lang="en-US" sz="1600" b="1" dirty="0">
                <a:solidFill>
                  <a:srgbClr val="FFFFFF"/>
                </a:solidFill>
              </a:rPr>
              <a:t>R03</a:t>
            </a:r>
            <a:endParaRPr lang="en-US" sz="1600" dirty="0"/>
          </a:p>
        </p:txBody>
      </p:sp>
      <p:sp>
        <p:nvSpPr>
          <p:cNvPr id="50" name="Text 48"/>
          <p:cNvSpPr/>
          <p:nvPr/>
        </p:nvSpPr>
        <p:spPr>
          <a:xfrm>
            <a:off x="4764024" y="3429000"/>
            <a:ext cx="1828800" cy="457200"/>
          </a:xfrm>
          <a:prstGeom prst="rect">
            <a:avLst/>
          </a:prstGeom>
          <a:noFill/>
          <a:ln/>
        </p:spPr>
        <p:txBody>
          <a:bodyPr wrap="square" rtlCol="0" anchor="ctr"/>
          <a:lstStyle/>
          <a:p>
            <a:pPr algn="ctr" indent="0" marL="0">
              <a:buNone/>
            </a:pPr>
            <a:r>
              <a:rPr lang="en-US" sz="1300" b="1" dirty="0">
                <a:solidFill>
                  <a:srgbClr val="0D2137"/>
                </a:solidFill>
              </a:rPr>
              <a:t>Resp. Drugs</a:t>
            </a:r>
            <a:endParaRPr lang="en-US" sz="1300" dirty="0"/>
          </a:p>
        </p:txBody>
      </p:sp>
      <p:sp>
        <p:nvSpPr>
          <p:cNvPr id="51" name="Text 49"/>
          <p:cNvSpPr/>
          <p:nvPr/>
        </p:nvSpPr>
        <p:spPr>
          <a:xfrm>
            <a:off x="4764024" y="3886200"/>
            <a:ext cx="1828800" cy="274320"/>
          </a:xfrm>
          <a:prstGeom prst="rect">
            <a:avLst/>
          </a:prstGeom>
          <a:noFill/>
          <a:ln/>
        </p:spPr>
        <p:txBody>
          <a:bodyPr wrap="square" rtlCol="0" anchor="ctr"/>
          <a:lstStyle/>
          <a:p>
            <a:pPr algn="ctr" indent="0" marL="0">
              <a:buNone/>
            </a:pPr>
            <a:r>
              <a:rPr lang="en-US" sz="950" dirty="0">
                <a:solidFill>
                  <a:srgbClr val="94A3B8"/>
                </a:solidFill>
              </a:rPr>
              <a:t>Respiratory</a:t>
            </a:r>
            <a:endParaRPr lang="en-US" sz="950" dirty="0"/>
          </a:p>
        </p:txBody>
      </p:sp>
      <p:sp>
        <p:nvSpPr>
          <p:cNvPr id="52" name="Shape 50"/>
          <p:cNvSpPr/>
          <p:nvPr/>
        </p:nvSpPr>
        <p:spPr>
          <a:xfrm>
            <a:off x="4992624" y="4315968"/>
            <a:ext cx="1371600" cy="256032"/>
          </a:xfrm>
          <a:prstGeom prst="roundRect">
            <a:avLst>
              <a:gd name="adj" fmla="val 17857"/>
            </a:avLst>
          </a:prstGeom>
          <a:solidFill>
            <a:srgbClr val="F0F4F8"/>
          </a:solidFill>
          <a:ln w="10160">
            <a:solidFill>
              <a:srgbClr val="102A45"/>
            </a:solidFill>
            <a:prstDash val="solid"/>
          </a:ln>
        </p:spPr>
      </p:sp>
      <p:sp>
        <p:nvSpPr>
          <p:cNvPr id="53" name="Text 51"/>
          <p:cNvSpPr/>
          <p:nvPr/>
        </p:nvSpPr>
        <p:spPr>
          <a:xfrm>
            <a:off x="4992624" y="4315968"/>
            <a:ext cx="1371600" cy="256032"/>
          </a:xfrm>
          <a:prstGeom prst="rect">
            <a:avLst/>
          </a:prstGeom>
          <a:noFill/>
          <a:ln/>
        </p:spPr>
        <p:txBody>
          <a:bodyPr wrap="square" rtlCol="0" anchor="ctr"/>
          <a:lstStyle/>
          <a:p>
            <a:pPr algn="ctr" indent="0" marL="0">
              <a:buNone/>
            </a:pPr>
            <a:r>
              <a:rPr lang="en-US" sz="750" b="1" dirty="0">
                <a:solidFill>
                  <a:srgbClr val="102A45"/>
                </a:solidFill>
              </a:rPr>
              <a:t>ATC CLASS</a:t>
            </a:r>
            <a:endParaRPr lang="en-US" sz="750" dirty="0"/>
          </a:p>
        </p:txBody>
      </p:sp>
      <p:sp>
        <p:nvSpPr>
          <p:cNvPr id="54" name="Shape 52"/>
          <p:cNvSpPr/>
          <p:nvPr/>
        </p:nvSpPr>
        <p:spPr>
          <a:xfrm>
            <a:off x="6848856" y="2926080"/>
            <a:ext cx="2011680" cy="182880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55" name="Shape 53"/>
          <p:cNvSpPr/>
          <p:nvPr/>
        </p:nvSpPr>
        <p:spPr>
          <a:xfrm>
            <a:off x="6848856" y="2926080"/>
            <a:ext cx="2011680" cy="438912"/>
          </a:xfrm>
          <a:prstGeom prst="rect">
            <a:avLst/>
          </a:prstGeom>
          <a:solidFill>
            <a:srgbClr val="102A45"/>
          </a:solidFill>
          <a:ln/>
        </p:spPr>
      </p:sp>
      <p:sp>
        <p:nvSpPr>
          <p:cNvPr id="56" name="Text 54"/>
          <p:cNvSpPr/>
          <p:nvPr/>
        </p:nvSpPr>
        <p:spPr>
          <a:xfrm>
            <a:off x="6848856" y="2926080"/>
            <a:ext cx="2011680" cy="438912"/>
          </a:xfrm>
          <a:prstGeom prst="rect">
            <a:avLst/>
          </a:prstGeom>
          <a:noFill/>
          <a:ln/>
        </p:spPr>
        <p:txBody>
          <a:bodyPr wrap="square" rtlCol="0" anchor="ctr"/>
          <a:lstStyle/>
          <a:p>
            <a:pPr algn="ctr" indent="0" marL="0">
              <a:buNone/>
            </a:pPr>
            <a:r>
              <a:rPr lang="en-US" sz="1600" b="1" dirty="0">
                <a:solidFill>
                  <a:srgbClr val="FFFFFF"/>
                </a:solidFill>
              </a:rPr>
              <a:t>R06</a:t>
            </a:r>
            <a:endParaRPr lang="en-US" sz="1600" dirty="0"/>
          </a:p>
        </p:txBody>
      </p:sp>
      <p:sp>
        <p:nvSpPr>
          <p:cNvPr id="57" name="Text 55"/>
          <p:cNvSpPr/>
          <p:nvPr/>
        </p:nvSpPr>
        <p:spPr>
          <a:xfrm>
            <a:off x="6940296" y="3429000"/>
            <a:ext cx="1828800" cy="457200"/>
          </a:xfrm>
          <a:prstGeom prst="rect">
            <a:avLst/>
          </a:prstGeom>
          <a:noFill/>
          <a:ln/>
        </p:spPr>
        <p:txBody>
          <a:bodyPr wrap="square" rtlCol="0" anchor="ctr"/>
          <a:lstStyle/>
          <a:p>
            <a:pPr algn="ctr" indent="0" marL="0">
              <a:buNone/>
            </a:pPr>
            <a:r>
              <a:rPr lang="en-US" sz="1300" b="1" dirty="0">
                <a:solidFill>
                  <a:srgbClr val="0D2137"/>
                </a:solidFill>
              </a:rPr>
              <a:t>Antihistamines</a:t>
            </a:r>
            <a:endParaRPr lang="en-US" sz="1300" dirty="0"/>
          </a:p>
        </p:txBody>
      </p:sp>
      <p:sp>
        <p:nvSpPr>
          <p:cNvPr id="58" name="Text 56"/>
          <p:cNvSpPr/>
          <p:nvPr/>
        </p:nvSpPr>
        <p:spPr>
          <a:xfrm>
            <a:off x="6940296" y="3886200"/>
            <a:ext cx="1828800" cy="274320"/>
          </a:xfrm>
          <a:prstGeom prst="rect">
            <a:avLst/>
          </a:prstGeom>
          <a:noFill/>
          <a:ln/>
        </p:spPr>
        <p:txBody>
          <a:bodyPr wrap="square" rtlCol="0" anchor="ctr"/>
          <a:lstStyle/>
          <a:p>
            <a:pPr algn="ctr" indent="0" marL="0">
              <a:buNone/>
            </a:pPr>
            <a:r>
              <a:rPr lang="en-US" sz="950" dirty="0">
                <a:solidFill>
                  <a:srgbClr val="94A3B8"/>
                </a:solidFill>
              </a:rPr>
              <a:t>Allergy</a:t>
            </a:r>
            <a:endParaRPr lang="en-US" sz="950" dirty="0"/>
          </a:p>
        </p:txBody>
      </p:sp>
      <p:sp>
        <p:nvSpPr>
          <p:cNvPr id="59" name="Shape 57"/>
          <p:cNvSpPr/>
          <p:nvPr/>
        </p:nvSpPr>
        <p:spPr>
          <a:xfrm>
            <a:off x="7168896" y="4315968"/>
            <a:ext cx="1371600" cy="256032"/>
          </a:xfrm>
          <a:prstGeom prst="roundRect">
            <a:avLst>
              <a:gd name="adj" fmla="val 17857"/>
            </a:avLst>
          </a:prstGeom>
          <a:solidFill>
            <a:srgbClr val="F0F4F8"/>
          </a:solidFill>
          <a:ln w="10160">
            <a:solidFill>
              <a:srgbClr val="102A45"/>
            </a:solidFill>
            <a:prstDash val="solid"/>
          </a:ln>
        </p:spPr>
      </p:sp>
      <p:sp>
        <p:nvSpPr>
          <p:cNvPr id="60" name="Text 58"/>
          <p:cNvSpPr/>
          <p:nvPr/>
        </p:nvSpPr>
        <p:spPr>
          <a:xfrm>
            <a:off x="7168896" y="4315968"/>
            <a:ext cx="1371600" cy="256032"/>
          </a:xfrm>
          <a:prstGeom prst="rect">
            <a:avLst/>
          </a:prstGeom>
          <a:noFill/>
          <a:ln/>
        </p:spPr>
        <p:txBody>
          <a:bodyPr wrap="square" rtlCol="0" anchor="ctr"/>
          <a:lstStyle/>
          <a:p>
            <a:pPr algn="ctr" indent="0" marL="0">
              <a:buNone/>
            </a:pPr>
            <a:r>
              <a:rPr lang="en-US" sz="750" b="1" dirty="0">
                <a:solidFill>
                  <a:srgbClr val="102A45"/>
                </a:solidFill>
              </a:rPr>
              <a:t>ATC CLASS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137"/>
          </a:solidFill>
          <a:ln/>
        </p:spPr>
      </p:sp>
      <p:sp>
        <p:nvSpPr>
          <p:cNvPr id="3" name="Text 1"/>
          <p:cNvSpPr/>
          <p:nvPr/>
        </p:nvSpPr>
        <p:spPr>
          <a:xfrm>
            <a:off x="365760" y="0"/>
            <a:ext cx="7772400" cy="685800"/>
          </a:xfrm>
          <a:prstGeom prst="rect">
            <a:avLst/>
          </a:prstGeom>
          <a:noFill/>
          <a:ln/>
        </p:spPr>
        <p:txBody>
          <a:bodyPr wrap="square" rtlCol="0" anchor="ctr"/>
          <a:lstStyle/>
          <a:p>
            <a:pPr indent="0" marL="0">
              <a:buNone/>
            </a:pPr>
            <a:r>
              <a:rPr lang="en-US" sz="1800" b="1" dirty="0">
                <a:solidFill>
                  <a:srgbClr val="FFFFFF"/>
                </a:solidFill>
              </a:rPr>
              <a:t>Finding 1: Demand Predictability Varies Widely Across the Portfolio</a:t>
            </a:r>
            <a:endParaRPr lang="en-US" sz="1800" dirty="0"/>
          </a:p>
        </p:txBody>
      </p:sp>
      <p:sp>
        <p:nvSpPr>
          <p:cNvPr id="4" name="Text 2"/>
          <p:cNvSpPr/>
          <p:nvPr/>
        </p:nvSpPr>
        <p:spPr>
          <a:xfrm>
            <a:off x="2743200" y="749808"/>
            <a:ext cx="5760720" cy="228600"/>
          </a:xfrm>
          <a:prstGeom prst="rect">
            <a:avLst/>
          </a:prstGeom>
          <a:noFill/>
          <a:ln/>
        </p:spPr>
        <p:txBody>
          <a:bodyPr wrap="square" rtlCol="0" anchor="ctr"/>
          <a:lstStyle/>
          <a:p>
            <a:pPr algn="l" indent="0" marL="0">
              <a:buNone/>
            </a:pPr>
            <a:r>
              <a:rPr lang="en-US" sz="900" dirty="0">
                <a:solidFill>
                  <a:srgbClr val="94A3B8"/>
                </a:solidFill>
              </a:rPr>
              <a:t>Unexplained demand noise as % of observed sales  (lower = more forecastable)</a:t>
            </a:r>
            <a:endParaRPr lang="en-US" sz="900" dirty="0"/>
          </a:p>
        </p:txBody>
      </p:sp>
      <p:sp>
        <p:nvSpPr>
          <p:cNvPr id="5" name="Text 3"/>
          <p:cNvSpPr/>
          <p:nvPr/>
        </p:nvSpPr>
        <p:spPr>
          <a:xfrm>
            <a:off x="274320" y="896112"/>
            <a:ext cx="2377440" cy="329184"/>
          </a:xfrm>
          <a:prstGeom prst="rect">
            <a:avLst/>
          </a:prstGeom>
          <a:noFill/>
          <a:ln/>
        </p:spPr>
        <p:txBody>
          <a:bodyPr wrap="square" rtlCol="0" anchor="ctr"/>
          <a:lstStyle/>
          <a:p>
            <a:pPr algn="r" indent="0" marL="0">
              <a:buNone/>
            </a:pPr>
            <a:r>
              <a:rPr lang="en-US" sz="1100" dirty="0">
                <a:solidFill>
                  <a:srgbClr val="0D2137"/>
                </a:solidFill>
              </a:rPr>
              <a:t>N02BE  Paracetamol</a:t>
            </a:r>
            <a:endParaRPr lang="en-US" sz="1100" dirty="0"/>
          </a:p>
        </p:txBody>
      </p:sp>
      <p:sp>
        <p:nvSpPr>
          <p:cNvPr id="6" name="Shape 4"/>
          <p:cNvSpPr/>
          <p:nvPr/>
        </p:nvSpPr>
        <p:spPr>
          <a:xfrm>
            <a:off x="2743200" y="914400"/>
            <a:ext cx="5029200" cy="274320"/>
          </a:xfrm>
          <a:prstGeom prst="rect">
            <a:avLst/>
          </a:prstGeom>
          <a:solidFill>
            <a:srgbClr val="E2E8F0"/>
          </a:solidFill>
          <a:ln/>
        </p:spPr>
      </p:sp>
      <p:sp>
        <p:nvSpPr>
          <p:cNvPr id="7" name="Shape 5"/>
          <p:cNvSpPr/>
          <p:nvPr/>
        </p:nvSpPr>
        <p:spPr>
          <a:xfrm>
            <a:off x="2743200" y="914400"/>
            <a:ext cx="1243584" cy="274320"/>
          </a:xfrm>
          <a:prstGeom prst="rect">
            <a:avLst/>
          </a:prstGeom>
          <a:solidFill>
            <a:srgbClr val="028090"/>
          </a:solidFill>
          <a:ln/>
        </p:spPr>
      </p:sp>
      <p:sp>
        <p:nvSpPr>
          <p:cNvPr id="8" name="Text 6"/>
          <p:cNvSpPr/>
          <p:nvPr/>
        </p:nvSpPr>
        <p:spPr>
          <a:xfrm>
            <a:off x="4078224" y="896112"/>
            <a:ext cx="548640" cy="329184"/>
          </a:xfrm>
          <a:prstGeom prst="rect">
            <a:avLst/>
          </a:prstGeom>
          <a:noFill/>
          <a:ln/>
        </p:spPr>
        <p:txBody>
          <a:bodyPr wrap="square" rtlCol="0" anchor="ctr"/>
          <a:lstStyle/>
          <a:p>
            <a:pPr indent="0" marL="0">
              <a:buNone/>
            </a:pPr>
            <a:r>
              <a:rPr lang="en-US" sz="1100" b="1" dirty="0">
                <a:solidFill>
                  <a:srgbClr val="028090"/>
                </a:solidFill>
              </a:rPr>
              <a:t>13.6%</a:t>
            </a:r>
            <a:endParaRPr lang="en-US" sz="1100" dirty="0"/>
          </a:p>
        </p:txBody>
      </p:sp>
      <p:sp>
        <p:nvSpPr>
          <p:cNvPr id="9" name="Text 7"/>
          <p:cNvSpPr/>
          <p:nvPr/>
        </p:nvSpPr>
        <p:spPr>
          <a:xfrm>
            <a:off x="274320" y="1298448"/>
            <a:ext cx="2377440" cy="329184"/>
          </a:xfrm>
          <a:prstGeom prst="rect">
            <a:avLst/>
          </a:prstGeom>
          <a:noFill/>
          <a:ln/>
        </p:spPr>
        <p:txBody>
          <a:bodyPr wrap="square" rtlCol="0" anchor="ctr"/>
          <a:lstStyle/>
          <a:p>
            <a:pPr algn="r" indent="0" marL="0">
              <a:buNone/>
            </a:pPr>
            <a:r>
              <a:rPr lang="en-US" sz="1100" dirty="0">
                <a:solidFill>
                  <a:srgbClr val="0D2137"/>
                </a:solidFill>
              </a:rPr>
              <a:t>N02BA  Aspirin</a:t>
            </a:r>
            <a:endParaRPr lang="en-US" sz="1100" dirty="0"/>
          </a:p>
        </p:txBody>
      </p:sp>
      <p:sp>
        <p:nvSpPr>
          <p:cNvPr id="10" name="Shape 8"/>
          <p:cNvSpPr/>
          <p:nvPr/>
        </p:nvSpPr>
        <p:spPr>
          <a:xfrm>
            <a:off x="2743200" y="1316736"/>
            <a:ext cx="5029200" cy="274320"/>
          </a:xfrm>
          <a:prstGeom prst="rect">
            <a:avLst/>
          </a:prstGeom>
          <a:solidFill>
            <a:srgbClr val="E2E8F0"/>
          </a:solidFill>
          <a:ln/>
        </p:spPr>
      </p:sp>
      <p:sp>
        <p:nvSpPr>
          <p:cNvPr id="11" name="Shape 9"/>
          <p:cNvSpPr/>
          <p:nvPr/>
        </p:nvSpPr>
        <p:spPr>
          <a:xfrm>
            <a:off x="2743200" y="1316736"/>
            <a:ext cx="1325880" cy="274320"/>
          </a:xfrm>
          <a:prstGeom prst="rect">
            <a:avLst/>
          </a:prstGeom>
          <a:solidFill>
            <a:srgbClr val="028090"/>
          </a:solidFill>
          <a:ln/>
        </p:spPr>
      </p:sp>
      <p:sp>
        <p:nvSpPr>
          <p:cNvPr id="12" name="Text 10"/>
          <p:cNvSpPr/>
          <p:nvPr/>
        </p:nvSpPr>
        <p:spPr>
          <a:xfrm>
            <a:off x="4160520" y="1298448"/>
            <a:ext cx="548640" cy="329184"/>
          </a:xfrm>
          <a:prstGeom prst="rect">
            <a:avLst/>
          </a:prstGeom>
          <a:noFill/>
          <a:ln/>
        </p:spPr>
        <p:txBody>
          <a:bodyPr wrap="square" rtlCol="0" anchor="ctr"/>
          <a:lstStyle/>
          <a:p>
            <a:pPr indent="0" marL="0">
              <a:buNone/>
            </a:pPr>
            <a:r>
              <a:rPr lang="en-US" sz="1100" b="1" dirty="0">
                <a:solidFill>
                  <a:srgbClr val="028090"/>
                </a:solidFill>
              </a:rPr>
              <a:t>14.5%</a:t>
            </a:r>
            <a:endParaRPr lang="en-US" sz="1100" dirty="0"/>
          </a:p>
        </p:txBody>
      </p:sp>
      <p:sp>
        <p:nvSpPr>
          <p:cNvPr id="13" name="Text 11"/>
          <p:cNvSpPr/>
          <p:nvPr/>
        </p:nvSpPr>
        <p:spPr>
          <a:xfrm>
            <a:off x="274320" y="1700784"/>
            <a:ext cx="2377440" cy="329184"/>
          </a:xfrm>
          <a:prstGeom prst="rect">
            <a:avLst/>
          </a:prstGeom>
          <a:noFill/>
          <a:ln/>
        </p:spPr>
        <p:txBody>
          <a:bodyPr wrap="square" rtlCol="0" anchor="ctr"/>
          <a:lstStyle/>
          <a:p>
            <a:pPr algn="r" indent="0" marL="0">
              <a:buNone/>
            </a:pPr>
            <a:r>
              <a:rPr lang="en-US" sz="1100" dirty="0">
                <a:solidFill>
                  <a:srgbClr val="0D2137"/>
                </a:solidFill>
              </a:rPr>
              <a:t>M01AB  Diclofenac</a:t>
            </a:r>
            <a:endParaRPr lang="en-US" sz="1100" dirty="0"/>
          </a:p>
        </p:txBody>
      </p:sp>
      <p:sp>
        <p:nvSpPr>
          <p:cNvPr id="14" name="Shape 12"/>
          <p:cNvSpPr/>
          <p:nvPr/>
        </p:nvSpPr>
        <p:spPr>
          <a:xfrm>
            <a:off x="2743200" y="1719072"/>
            <a:ext cx="5029200" cy="274320"/>
          </a:xfrm>
          <a:prstGeom prst="rect">
            <a:avLst/>
          </a:prstGeom>
          <a:solidFill>
            <a:srgbClr val="E2E8F0"/>
          </a:solidFill>
          <a:ln/>
        </p:spPr>
      </p:sp>
      <p:sp>
        <p:nvSpPr>
          <p:cNvPr id="15" name="Shape 13"/>
          <p:cNvSpPr/>
          <p:nvPr/>
        </p:nvSpPr>
        <p:spPr>
          <a:xfrm>
            <a:off x="2743200" y="1719072"/>
            <a:ext cx="1353312" cy="274320"/>
          </a:xfrm>
          <a:prstGeom prst="rect">
            <a:avLst/>
          </a:prstGeom>
          <a:solidFill>
            <a:srgbClr val="028090"/>
          </a:solidFill>
          <a:ln/>
        </p:spPr>
      </p:sp>
      <p:sp>
        <p:nvSpPr>
          <p:cNvPr id="16" name="Text 14"/>
          <p:cNvSpPr/>
          <p:nvPr/>
        </p:nvSpPr>
        <p:spPr>
          <a:xfrm>
            <a:off x="4187952" y="1700784"/>
            <a:ext cx="548640" cy="329184"/>
          </a:xfrm>
          <a:prstGeom prst="rect">
            <a:avLst/>
          </a:prstGeom>
          <a:noFill/>
          <a:ln/>
        </p:spPr>
        <p:txBody>
          <a:bodyPr wrap="square" rtlCol="0" anchor="ctr"/>
          <a:lstStyle/>
          <a:p>
            <a:pPr indent="0" marL="0">
              <a:buNone/>
            </a:pPr>
            <a:r>
              <a:rPr lang="en-US" sz="1100" b="1" dirty="0">
                <a:solidFill>
                  <a:srgbClr val="028090"/>
                </a:solidFill>
              </a:rPr>
              <a:t>14.8%</a:t>
            </a:r>
            <a:endParaRPr lang="en-US" sz="1100" dirty="0"/>
          </a:p>
        </p:txBody>
      </p:sp>
      <p:sp>
        <p:nvSpPr>
          <p:cNvPr id="17" name="Text 15"/>
          <p:cNvSpPr/>
          <p:nvPr/>
        </p:nvSpPr>
        <p:spPr>
          <a:xfrm>
            <a:off x="274320" y="2103120"/>
            <a:ext cx="2377440" cy="329184"/>
          </a:xfrm>
          <a:prstGeom prst="rect">
            <a:avLst/>
          </a:prstGeom>
          <a:noFill/>
          <a:ln/>
        </p:spPr>
        <p:txBody>
          <a:bodyPr wrap="square" rtlCol="0" anchor="ctr"/>
          <a:lstStyle/>
          <a:p>
            <a:pPr algn="r" indent="0" marL="0">
              <a:buNone/>
            </a:pPr>
            <a:r>
              <a:rPr lang="en-US" sz="1100" dirty="0">
                <a:solidFill>
                  <a:srgbClr val="0D2137"/>
                </a:solidFill>
              </a:rPr>
              <a:t>M01AE  Ibuprofen</a:t>
            </a:r>
            <a:endParaRPr lang="en-US" sz="1100" dirty="0"/>
          </a:p>
        </p:txBody>
      </p:sp>
      <p:sp>
        <p:nvSpPr>
          <p:cNvPr id="18" name="Shape 16"/>
          <p:cNvSpPr/>
          <p:nvPr/>
        </p:nvSpPr>
        <p:spPr>
          <a:xfrm>
            <a:off x="2743200" y="2121408"/>
            <a:ext cx="5029200" cy="274320"/>
          </a:xfrm>
          <a:prstGeom prst="rect">
            <a:avLst/>
          </a:prstGeom>
          <a:solidFill>
            <a:srgbClr val="E2E8F0"/>
          </a:solidFill>
          <a:ln/>
        </p:spPr>
      </p:sp>
      <p:sp>
        <p:nvSpPr>
          <p:cNvPr id="19" name="Shape 17"/>
          <p:cNvSpPr/>
          <p:nvPr/>
        </p:nvSpPr>
        <p:spPr>
          <a:xfrm>
            <a:off x="2743200" y="2121408"/>
            <a:ext cx="1408176" cy="274320"/>
          </a:xfrm>
          <a:prstGeom prst="rect">
            <a:avLst/>
          </a:prstGeom>
          <a:solidFill>
            <a:srgbClr val="028090"/>
          </a:solidFill>
          <a:ln/>
        </p:spPr>
      </p:sp>
      <p:sp>
        <p:nvSpPr>
          <p:cNvPr id="20" name="Text 18"/>
          <p:cNvSpPr/>
          <p:nvPr/>
        </p:nvSpPr>
        <p:spPr>
          <a:xfrm>
            <a:off x="4242816" y="2103120"/>
            <a:ext cx="548640" cy="329184"/>
          </a:xfrm>
          <a:prstGeom prst="rect">
            <a:avLst/>
          </a:prstGeom>
          <a:noFill/>
          <a:ln/>
        </p:spPr>
        <p:txBody>
          <a:bodyPr wrap="square" rtlCol="0" anchor="ctr"/>
          <a:lstStyle/>
          <a:p>
            <a:pPr indent="0" marL="0">
              <a:buNone/>
            </a:pPr>
            <a:r>
              <a:rPr lang="en-US" sz="1100" b="1" dirty="0">
                <a:solidFill>
                  <a:srgbClr val="028090"/>
                </a:solidFill>
              </a:rPr>
              <a:t>15.4%</a:t>
            </a:r>
            <a:endParaRPr lang="en-US" sz="1100" dirty="0"/>
          </a:p>
        </p:txBody>
      </p:sp>
      <p:sp>
        <p:nvSpPr>
          <p:cNvPr id="21" name="Text 19"/>
          <p:cNvSpPr/>
          <p:nvPr/>
        </p:nvSpPr>
        <p:spPr>
          <a:xfrm>
            <a:off x="274320" y="2505456"/>
            <a:ext cx="2377440" cy="329184"/>
          </a:xfrm>
          <a:prstGeom prst="rect">
            <a:avLst/>
          </a:prstGeom>
          <a:noFill/>
          <a:ln/>
        </p:spPr>
        <p:txBody>
          <a:bodyPr wrap="square" rtlCol="0" anchor="ctr"/>
          <a:lstStyle/>
          <a:p>
            <a:pPr algn="r" indent="0" marL="0">
              <a:buNone/>
            </a:pPr>
            <a:r>
              <a:rPr lang="en-US" sz="1100" dirty="0">
                <a:solidFill>
                  <a:srgbClr val="0D2137"/>
                </a:solidFill>
              </a:rPr>
              <a:t>N05B   Anxiolytics</a:t>
            </a:r>
            <a:endParaRPr lang="en-US" sz="1100" dirty="0"/>
          </a:p>
        </p:txBody>
      </p:sp>
      <p:sp>
        <p:nvSpPr>
          <p:cNvPr id="22" name="Shape 20"/>
          <p:cNvSpPr/>
          <p:nvPr/>
        </p:nvSpPr>
        <p:spPr>
          <a:xfrm>
            <a:off x="2743200" y="2523744"/>
            <a:ext cx="5029200" cy="274320"/>
          </a:xfrm>
          <a:prstGeom prst="rect">
            <a:avLst/>
          </a:prstGeom>
          <a:solidFill>
            <a:srgbClr val="E2E8F0"/>
          </a:solidFill>
          <a:ln/>
        </p:spPr>
      </p:sp>
      <p:sp>
        <p:nvSpPr>
          <p:cNvPr id="23" name="Shape 21"/>
          <p:cNvSpPr/>
          <p:nvPr/>
        </p:nvSpPr>
        <p:spPr>
          <a:xfrm>
            <a:off x="2743200" y="2523744"/>
            <a:ext cx="1911096" cy="274320"/>
          </a:xfrm>
          <a:prstGeom prst="rect">
            <a:avLst/>
          </a:prstGeom>
          <a:solidFill>
            <a:srgbClr val="D97706"/>
          </a:solidFill>
          <a:ln/>
        </p:spPr>
      </p:sp>
      <p:sp>
        <p:nvSpPr>
          <p:cNvPr id="24" name="Text 22"/>
          <p:cNvSpPr/>
          <p:nvPr/>
        </p:nvSpPr>
        <p:spPr>
          <a:xfrm>
            <a:off x="4745736" y="2505456"/>
            <a:ext cx="548640" cy="329184"/>
          </a:xfrm>
          <a:prstGeom prst="rect">
            <a:avLst/>
          </a:prstGeom>
          <a:noFill/>
          <a:ln/>
        </p:spPr>
        <p:txBody>
          <a:bodyPr wrap="square" rtlCol="0" anchor="ctr"/>
          <a:lstStyle/>
          <a:p>
            <a:pPr indent="0" marL="0">
              <a:buNone/>
            </a:pPr>
            <a:r>
              <a:rPr lang="en-US" sz="1100" b="1" dirty="0">
                <a:solidFill>
                  <a:srgbClr val="D97706"/>
                </a:solidFill>
              </a:rPr>
              <a:t>20.9%</a:t>
            </a:r>
            <a:endParaRPr lang="en-US" sz="1100" dirty="0"/>
          </a:p>
        </p:txBody>
      </p:sp>
      <p:sp>
        <p:nvSpPr>
          <p:cNvPr id="25" name="Text 23"/>
          <p:cNvSpPr/>
          <p:nvPr/>
        </p:nvSpPr>
        <p:spPr>
          <a:xfrm>
            <a:off x="274320" y="2907792"/>
            <a:ext cx="2377440" cy="329184"/>
          </a:xfrm>
          <a:prstGeom prst="rect">
            <a:avLst/>
          </a:prstGeom>
          <a:noFill/>
          <a:ln/>
        </p:spPr>
        <p:txBody>
          <a:bodyPr wrap="square" rtlCol="0" anchor="ctr"/>
          <a:lstStyle/>
          <a:p>
            <a:pPr algn="r" indent="0" marL="0">
              <a:buNone/>
            </a:pPr>
            <a:r>
              <a:rPr lang="en-US" sz="1100" dirty="0">
                <a:solidFill>
                  <a:srgbClr val="0D2137"/>
                </a:solidFill>
              </a:rPr>
              <a:t>R06    Antihistamines</a:t>
            </a:r>
            <a:endParaRPr lang="en-US" sz="1100" dirty="0"/>
          </a:p>
        </p:txBody>
      </p:sp>
      <p:sp>
        <p:nvSpPr>
          <p:cNvPr id="26" name="Shape 24"/>
          <p:cNvSpPr/>
          <p:nvPr/>
        </p:nvSpPr>
        <p:spPr>
          <a:xfrm>
            <a:off x="2743200" y="2926080"/>
            <a:ext cx="5029200" cy="274320"/>
          </a:xfrm>
          <a:prstGeom prst="rect">
            <a:avLst/>
          </a:prstGeom>
          <a:solidFill>
            <a:srgbClr val="E2E8F0"/>
          </a:solidFill>
          <a:ln/>
        </p:spPr>
      </p:sp>
      <p:sp>
        <p:nvSpPr>
          <p:cNvPr id="27" name="Shape 25"/>
          <p:cNvSpPr/>
          <p:nvPr/>
        </p:nvSpPr>
        <p:spPr>
          <a:xfrm>
            <a:off x="2743200" y="2926080"/>
            <a:ext cx="1984248" cy="274320"/>
          </a:xfrm>
          <a:prstGeom prst="rect">
            <a:avLst/>
          </a:prstGeom>
          <a:solidFill>
            <a:srgbClr val="D97706"/>
          </a:solidFill>
          <a:ln/>
        </p:spPr>
      </p:sp>
      <p:sp>
        <p:nvSpPr>
          <p:cNvPr id="28" name="Text 26"/>
          <p:cNvSpPr/>
          <p:nvPr/>
        </p:nvSpPr>
        <p:spPr>
          <a:xfrm>
            <a:off x="4818888" y="2907792"/>
            <a:ext cx="548640" cy="329184"/>
          </a:xfrm>
          <a:prstGeom prst="rect">
            <a:avLst/>
          </a:prstGeom>
          <a:noFill/>
          <a:ln/>
        </p:spPr>
        <p:txBody>
          <a:bodyPr wrap="square" rtlCol="0" anchor="ctr"/>
          <a:lstStyle/>
          <a:p>
            <a:pPr indent="0" marL="0">
              <a:buNone/>
            </a:pPr>
            <a:r>
              <a:rPr lang="en-US" sz="1100" b="1" dirty="0">
                <a:solidFill>
                  <a:srgbClr val="D97706"/>
                </a:solidFill>
              </a:rPr>
              <a:t>21.7%</a:t>
            </a:r>
            <a:endParaRPr lang="en-US" sz="1100" dirty="0"/>
          </a:p>
        </p:txBody>
      </p:sp>
      <p:sp>
        <p:nvSpPr>
          <p:cNvPr id="29" name="Text 27"/>
          <p:cNvSpPr/>
          <p:nvPr/>
        </p:nvSpPr>
        <p:spPr>
          <a:xfrm>
            <a:off x="274320" y="3310128"/>
            <a:ext cx="2377440" cy="329184"/>
          </a:xfrm>
          <a:prstGeom prst="rect">
            <a:avLst/>
          </a:prstGeom>
          <a:noFill/>
          <a:ln/>
        </p:spPr>
        <p:txBody>
          <a:bodyPr wrap="square" rtlCol="0" anchor="ctr"/>
          <a:lstStyle/>
          <a:p>
            <a:pPr algn="r" indent="0" marL="0">
              <a:buNone/>
            </a:pPr>
            <a:r>
              <a:rPr lang="en-US" sz="1100" dirty="0">
                <a:solidFill>
                  <a:srgbClr val="0D2137"/>
                </a:solidFill>
              </a:rPr>
              <a:t>R03    Resp. Drugs</a:t>
            </a:r>
            <a:endParaRPr lang="en-US" sz="1100" dirty="0"/>
          </a:p>
        </p:txBody>
      </p:sp>
      <p:sp>
        <p:nvSpPr>
          <p:cNvPr id="30" name="Shape 28"/>
          <p:cNvSpPr/>
          <p:nvPr/>
        </p:nvSpPr>
        <p:spPr>
          <a:xfrm>
            <a:off x="2743200" y="3328416"/>
            <a:ext cx="5029200" cy="274320"/>
          </a:xfrm>
          <a:prstGeom prst="rect">
            <a:avLst/>
          </a:prstGeom>
          <a:solidFill>
            <a:srgbClr val="E2E8F0"/>
          </a:solidFill>
          <a:ln/>
        </p:spPr>
      </p:sp>
      <p:sp>
        <p:nvSpPr>
          <p:cNvPr id="31" name="Shape 29"/>
          <p:cNvSpPr/>
          <p:nvPr/>
        </p:nvSpPr>
        <p:spPr>
          <a:xfrm>
            <a:off x="2743200" y="3328416"/>
            <a:ext cx="2679192" cy="274320"/>
          </a:xfrm>
          <a:prstGeom prst="rect">
            <a:avLst/>
          </a:prstGeom>
          <a:solidFill>
            <a:srgbClr val="D97706"/>
          </a:solidFill>
          <a:ln/>
        </p:spPr>
      </p:sp>
      <p:sp>
        <p:nvSpPr>
          <p:cNvPr id="32" name="Text 30"/>
          <p:cNvSpPr/>
          <p:nvPr/>
        </p:nvSpPr>
        <p:spPr>
          <a:xfrm>
            <a:off x="5513832" y="3310128"/>
            <a:ext cx="548640" cy="329184"/>
          </a:xfrm>
          <a:prstGeom prst="rect">
            <a:avLst/>
          </a:prstGeom>
          <a:noFill/>
          <a:ln/>
        </p:spPr>
        <p:txBody>
          <a:bodyPr wrap="square" rtlCol="0" anchor="ctr"/>
          <a:lstStyle/>
          <a:p>
            <a:pPr indent="0" marL="0">
              <a:buNone/>
            </a:pPr>
            <a:r>
              <a:rPr lang="en-US" sz="1100" b="1" dirty="0">
                <a:solidFill>
                  <a:srgbClr val="D97706"/>
                </a:solidFill>
              </a:rPr>
              <a:t>29.3%</a:t>
            </a:r>
            <a:endParaRPr lang="en-US" sz="1100" dirty="0"/>
          </a:p>
        </p:txBody>
      </p:sp>
      <p:sp>
        <p:nvSpPr>
          <p:cNvPr id="33" name="Text 31"/>
          <p:cNvSpPr/>
          <p:nvPr/>
        </p:nvSpPr>
        <p:spPr>
          <a:xfrm>
            <a:off x="274320" y="3712464"/>
            <a:ext cx="2377440" cy="329184"/>
          </a:xfrm>
          <a:prstGeom prst="rect">
            <a:avLst/>
          </a:prstGeom>
          <a:noFill/>
          <a:ln/>
        </p:spPr>
        <p:txBody>
          <a:bodyPr wrap="square" rtlCol="0" anchor="ctr"/>
          <a:lstStyle/>
          <a:p>
            <a:pPr algn="r" indent="0" marL="0">
              <a:buNone/>
            </a:pPr>
            <a:r>
              <a:rPr lang="en-US" sz="1100" dirty="0">
                <a:solidFill>
                  <a:srgbClr val="0D2137"/>
                </a:solidFill>
              </a:rPr>
              <a:t>N05C   Sedatives</a:t>
            </a:r>
            <a:endParaRPr lang="en-US" sz="1100" dirty="0"/>
          </a:p>
        </p:txBody>
      </p:sp>
      <p:sp>
        <p:nvSpPr>
          <p:cNvPr id="34" name="Shape 32"/>
          <p:cNvSpPr/>
          <p:nvPr/>
        </p:nvSpPr>
        <p:spPr>
          <a:xfrm>
            <a:off x="2743200" y="3730752"/>
            <a:ext cx="5029200" cy="274320"/>
          </a:xfrm>
          <a:prstGeom prst="rect">
            <a:avLst/>
          </a:prstGeom>
          <a:solidFill>
            <a:srgbClr val="E2E8F0"/>
          </a:solidFill>
          <a:ln/>
        </p:spPr>
      </p:sp>
      <p:sp>
        <p:nvSpPr>
          <p:cNvPr id="35" name="Shape 33"/>
          <p:cNvSpPr/>
          <p:nvPr/>
        </p:nvSpPr>
        <p:spPr>
          <a:xfrm>
            <a:off x="2743200" y="3730752"/>
            <a:ext cx="4809744" cy="274320"/>
          </a:xfrm>
          <a:prstGeom prst="rect">
            <a:avLst/>
          </a:prstGeom>
          <a:solidFill>
            <a:srgbClr val="C0392B"/>
          </a:solidFill>
          <a:ln/>
        </p:spPr>
      </p:sp>
      <p:sp>
        <p:nvSpPr>
          <p:cNvPr id="36" name="Text 34"/>
          <p:cNvSpPr/>
          <p:nvPr/>
        </p:nvSpPr>
        <p:spPr>
          <a:xfrm>
            <a:off x="7644384" y="3712464"/>
            <a:ext cx="548640" cy="329184"/>
          </a:xfrm>
          <a:prstGeom prst="rect">
            <a:avLst/>
          </a:prstGeom>
          <a:noFill/>
          <a:ln/>
        </p:spPr>
        <p:txBody>
          <a:bodyPr wrap="square" rtlCol="0" anchor="ctr"/>
          <a:lstStyle/>
          <a:p>
            <a:pPr indent="0" marL="0">
              <a:buNone/>
            </a:pPr>
            <a:r>
              <a:rPr lang="en-US" sz="1100" b="1" dirty="0">
                <a:solidFill>
                  <a:srgbClr val="C0392B"/>
                </a:solidFill>
              </a:rPr>
              <a:t>52.6%</a:t>
            </a:r>
            <a:endParaRPr lang="en-US" sz="1100" dirty="0"/>
          </a:p>
        </p:txBody>
      </p:sp>
      <p:sp>
        <p:nvSpPr>
          <p:cNvPr id="37" name="Shape 35"/>
          <p:cNvSpPr/>
          <p:nvPr/>
        </p:nvSpPr>
        <p:spPr>
          <a:xfrm>
            <a:off x="320040" y="4343400"/>
            <a:ext cx="164592" cy="164592"/>
          </a:xfrm>
          <a:prstGeom prst="rect">
            <a:avLst/>
          </a:prstGeom>
          <a:solidFill>
            <a:srgbClr val="028090"/>
          </a:solidFill>
          <a:ln/>
        </p:spPr>
      </p:sp>
      <p:sp>
        <p:nvSpPr>
          <p:cNvPr id="38" name="Text 36"/>
          <p:cNvSpPr/>
          <p:nvPr/>
        </p:nvSpPr>
        <p:spPr>
          <a:xfrm>
            <a:off x="557784" y="4325112"/>
            <a:ext cx="2651760" cy="219456"/>
          </a:xfrm>
          <a:prstGeom prst="rect">
            <a:avLst/>
          </a:prstGeom>
          <a:noFill/>
          <a:ln/>
        </p:spPr>
        <p:txBody>
          <a:bodyPr wrap="square" rtlCol="0" anchor="ctr"/>
          <a:lstStyle/>
          <a:p>
            <a:pPr indent="0" marL="0">
              <a:buNone/>
            </a:pPr>
            <a:r>
              <a:rPr lang="en-US" sz="900" dirty="0">
                <a:solidFill>
                  <a:srgbClr val="475569"/>
                </a:solidFill>
              </a:rPr>
              <a:t>Tier 1: Highly Predictable (13–16%)</a:t>
            </a:r>
            <a:endParaRPr lang="en-US" sz="900" dirty="0"/>
          </a:p>
        </p:txBody>
      </p:sp>
      <p:sp>
        <p:nvSpPr>
          <p:cNvPr id="39" name="Shape 37"/>
          <p:cNvSpPr/>
          <p:nvPr/>
        </p:nvSpPr>
        <p:spPr>
          <a:xfrm>
            <a:off x="3246120" y="4343400"/>
            <a:ext cx="164592" cy="164592"/>
          </a:xfrm>
          <a:prstGeom prst="rect">
            <a:avLst/>
          </a:prstGeom>
          <a:solidFill>
            <a:srgbClr val="D97706"/>
          </a:solidFill>
          <a:ln/>
        </p:spPr>
      </p:sp>
      <p:sp>
        <p:nvSpPr>
          <p:cNvPr id="40" name="Text 38"/>
          <p:cNvSpPr/>
          <p:nvPr/>
        </p:nvSpPr>
        <p:spPr>
          <a:xfrm>
            <a:off x="3483864" y="4325112"/>
            <a:ext cx="2651760" cy="219456"/>
          </a:xfrm>
          <a:prstGeom prst="rect">
            <a:avLst/>
          </a:prstGeom>
          <a:noFill/>
          <a:ln/>
        </p:spPr>
        <p:txBody>
          <a:bodyPr wrap="square" rtlCol="0" anchor="ctr"/>
          <a:lstStyle/>
          <a:p>
            <a:pPr indent="0" marL="0">
              <a:buNone/>
            </a:pPr>
            <a:r>
              <a:rPr lang="en-US" sz="900" dirty="0">
                <a:solidFill>
                  <a:srgbClr val="475569"/>
                </a:solidFill>
              </a:rPr>
              <a:t>Tier 2: Moderate Noise (21–30%)</a:t>
            </a:r>
            <a:endParaRPr lang="en-US" sz="900" dirty="0"/>
          </a:p>
        </p:txBody>
      </p:sp>
      <p:sp>
        <p:nvSpPr>
          <p:cNvPr id="41" name="Shape 39"/>
          <p:cNvSpPr/>
          <p:nvPr/>
        </p:nvSpPr>
        <p:spPr>
          <a:xfrm>
            <a:off x="6172200" y="4343400"/>
            <a:ext cx="164592" cy="164592"/>
          </a:xfrm>
          <a:prstGeom prst="rect">
            <a:avLst/>
          </a:prstGeom>
          <a:solidFill>
            <a:srgbClr val="C0392B"/>
          </a:solidFill>
          <a:ln/>
        </p:spPr>
      </p:sp>
      <p:sp>
        <p:nvSpPr>
          <p:cNvPr id="42" name="Text 40"/>
          <p:cNvSpPr/>
          <p:nvPr/>
        </p:nvSpPr>
        <p:spPr>
          <a:xfrm>
            <a:off x="6409944" y="4325112"/>
            <a:ext cx="2651760" cy="219456"/>
          </a:xfrm>
          <a:prstGeom prst="rect">
            <a:avLst/>
          </a:prstGeom>
          <a:noFill/>
          <a:ln/>
        </p:spPr>
        <p:txBody>
          <a:bodyPr wrap="square" rtlCol="0" anchor="ctr"/>
          <a:lstStyle/>
          <a:p>
            <a:pPr indent="0" marL="0">
              <a:buNone/>
            </a:pPr>
            <a:r>
              <a:rPr lang="en-US" sz="900" dirty="0">
                <a:solidFill>
                  <a:srgbClr val="475569"/>
                </a:solidFill>
              </a:rPr>
              <a:t>Tier 3: High Volatility (&gt;50%)</a:t>
            </a:r>
            <a:endParaRPr lang="en-US" sz="900" dirty="0"/>
          </a:p>
        </p:txBody>
      </p:sp>
      <p:sp>
        <p:nvSpPr>
          <p:cNvPr id="43" name="Shape 41"/>
          <p:cNvSpPr/>
          <p:nvPr/>
        </p:nvSpPr>
        <p:spPr>
          <a:xfrm>
            <a:off x="274320" y="4663440"/>
            <a:ext cx="8595360" cy="365760"/>
          </a:xfrm>
          <a:prstGeom prst="rect">
            <a:avLst/>
          </a:prstGeom>
          <a:solidFill>
            <a:srgbClr val="0D2137"/>
          </a:solidFill>
          <a:ln/>
        </p:spPr>
      </p:sp>
      <p:sp>
        <p:nvSpPr>
          <p:cNvPr id="44" name="Text 42"/>
          <p:cNvSpPr/>
          <p:nvPr/>
        </p:nvSpPr>
        <p:spPr>
          <a:xfrm>
            <a:off x="411480" y="4663440"/>
            <a:ext cx="8412480" cy="365760"/>
          </a:xfrm>
          <a:prstGeom prst="rect">
            <a:avLst/>
          </a:prstGeom>
          <a:noFill/>
          <a:ln/>
        </p:spPr>
        <p:txBody>
          <a:bodyPr wrap="square" rtlCol="0" anchor="ctr"/>
          <a:lstStyle/>
          <a:p>
            <a:pPr indent="0" marL="0">
              <a:buNone/>
            </a:pPr>
            <a:r>
              <a:rPr lang="en-US" sz="1000" dirty="0">
                <a:solidFill>
                  <a:srgbClr val="FFFFFF"/>
                </a:solidFill>
              </a:rPr>
              <a:t>Key Insight:  Your 4 analgesic/anti-inflammatory products are inherently forecastable. Sedatives are not — and should be managed under a fundamentally different supply strategy.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137"/>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800" b="1" dirty="0">
                <a:solidFill>
                  <a:srgbClr val="FFFFFF"/>
                </a:solidFill>
              </a:rPr>
              <a:t>Finding 2: Seasonal Demand Is Real, Repeating — and Manageable</a:t>
            </a:r>
            <a:endParaRPr lang="en-US" sz="1800" dirty="0"/>
          </a:p>
        </p:txBody>
      </p:sp>
      <p:sp>
        <p:nvSpPr>
          <p:cNvPr id="4" name="Shape 2"/>
          <p:cNvSpPr/>
          <p:nvPr/>
        </p:nvSpPr>
        <p:spPr>
          <a:xfrm>
            <a:off x="320040" y="822960"/>
            <a:ext cx="4206240" cy="411480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5" name="Shape 3"/>
          <p:cNvSpPr/>
          <p:nvPr/>
        </p:nvSpPr>
        <p:spPr>
          <a:xfrm>
            <a:off x="320040" y="822960"/>
            <a:ext cx="4206240" cy="658368"/>
          </a:xfrm>
          <a:prstGeom prst="rect">
            <a:avLst/>
          </a:prstGeom>
          <a:solidFill>
            <a:srgbClr val="0F7EB8"/>
          </a:solidFill>
          <a:ln/>
        </p:spPr>
      </p:sp>
      <p:pic>
        <p:nvPicPr>
          <p:cNvPr id="6" name="Image 0" descr="preencoded.png">    </p:cNvPr>
          <p:cNvPicPr>
            <a:picLocks noChangeAspect="1"/>
          </p:cNvPicPr>
          <p:nvPr/>
        </p:nvPicPr>
        <p:blipFill>
          <a:blip r:embed="rId1"/>
          <a:stretch>
            <a:fillRect/>
          </a:stretch>
        </p:blipFill>
        <p:spPr>
          <a:xfrm>
            <a:off x="484632" y="932688"/>
            <a:ext cx="402336" cy="402336"/>
          </a:xfrm>
          <a:prstGeom prst="rect">
            <a:avLst/>
          </a:prstGeom>
        </p:spPr>
      </p:pic>
      <p:sp>
        <p:nvSpPr>
          <p:cNvPr id="7" name="Text 4"/>
          <p:cNvSpPr/>
          <p:nvPr/>
        </p:nvSpPr>
        <p:spPr>
          <a:xfrm>
            <a:off x="1005840" y="841248"/>
            <a:ext cx="3383280" cy="621792"/>
          </a:xfrm>
          <a:prstGeom prst="rect">
            <a:avLst/>
          </a:prstGeom>
          <a:noFill/>
          <a:ln/>
        </p:spPr>
        <p:txBody>
          <a:bodyPr wrap="square" rtlCol="0" anchor="ctr"/>
          <a:lstStyle/>
          <a:p>
            <a:pPr indent="0" marL="0">
              <a:buNone/>
            </a:pPr>
            <a:r>
              <a:rPr lang="en-US" sz="1400" b="1" dirty="0">
                <a:solidFill>
                  <a:srgbClr val="FFFFFF"/>
                </a:solidFill>
              </a:rPr>
              <a:t>R03  —  Respiratory Drugs</a:t>
            </a:r>
            <a:endParaRPr lang="en-US" sz="1400" dirty="0"/>
          </a:p>
        </p:txBody>
      </p:sp>
      <p:sp>
        <p:nvSpPr>
          <p:cNvPr id="8" name="Shape 5"/>
          <p:cNvSpPr/>
          <p:nvPr/>
        </p:nvSpPr>
        <p:spPr>
          <a:xfrm>
            <a:off x="502920" y="1600200"/>
            <a:ext cx="1463040" cy="274320"/>
          </a:xfrm>
          <a:prstGeom prst="roundRect">
            <a:avLst>
              <a:gd name="adj" fmla="val 20000"/>
            </a:avLst>
          </a:prstGeom>
          <a:solidFill>
            <a:srgbClr val="0F7EB8"/>
          </a:solidFill>
          <a:ln/>
        </p:spPr>
      </p:sp>
      <p:sp>
        <p:nvSpPr>
          <p:cNvPr id="9" name="Text 6"/>
          <p:cNvSpPr/>
          <p:nvPr/>
        </p:nvSpPr>
        <p:spPr>
          <a:xfrm>
            <a:off x="502920" y="1600200"/>
            <a:ext cx="1463040" cy="274320"/>
          </a:xfrm>
          <a:prstGeom prst="rect">
            <a:avLst/>
          </a:prstGeom>
          <a:noFill/>
          <a:ln/>
        </p:spPr>
        <p:txBody>
          <a:bodyPr wrap="square" rtlCol="0" anchor="ctr"/>
          <a:lstStyle/>
          <a:p>
            <a:pPr algn="ctr" indent="0" marL="0">
              <a:buNone/>
            </a:pPr>
            <a:r>
              <a:rPr lang="en-US" sz="850" b="1" dirty="0">
                <a:solidFill>
                  <a:srgbClr val="FFFFFF"/>
                </a:solidFill>
              </a:rPr>
              <a:t>PEAK: Nov – Feb</a:t>
            </a:r>
            <a:endParaRPr lang="en-US" sz="850" dirty="0"/>
          </a:p>
        </p:txBody>
      </p:sp>
      <p:sp>
        <p:nvSpPr>
          <p:cNvPr id="10" name="Text 7"/>
          <p:cNvSpPr/>
          <p:nvPr/>
        </p:nvSpPr>
        <p:spPr>
          <a:xfrm>
            <a:off x="502920" y="1965960"/>
            <a:ext cx="3840480" cy="777240"/>
          </a:xfrm>
          <a:prstGeom prst="rect">
            <a:avLst/>
          </a:prstGeom>
          <a:noFill/>
          <a:ln/>
        </p:spPr>
        <p:txBody>
          <a:bodyPr wrap="square" rtlCol="0" anchor="ctr"/>
          <a:lstStyle/>
          <a:p>
            <a:pPr indent="0" marL="0">
              <a:lnSpc>
                <a:spcPct val="140000"/>
              </a:lnSpc>
              <a:buNone/>
            </a:pPr>
            <a:r>
              <a:rPr lang="en-US" sz="1100" dirty="0">
                <a:solidFill>
                  <a:srgbClr val="475569"/>
                </a:solidFill>
              </a:rPr>
              <a:t>Clear annual cycle tied to flu/cold season. Demand spikes sharply in colder months and returns to baseline in spring.</a:t>
            </a:r>
            <a:endParaRPr lang="en-US" sz="1100" dirty="0"/>
          </a:p>
        </p:txBody>
      </p:sp>
      <p:sp>
        <p:nvSpPr>
          <p:cNvPr id="11" name="Shape 8"/>
          <p:cNvSpPr/>
          <p:nvPr/>
        </p:nvSpPr>
        <p:spPr>
          <a:xfrm>
            <a:off x="502920" y="2834640"/>
            <a:ext cx="3840480" cy="475488"/>
          </a:xfrm>
          <a:prstGeom prst="rect">
            <a:avLst/>
          </a:prstGeom>
          <a:solidFill>
            <a:srgbClr val="FEF3C7"/>
          </a:solidFill>
          <a:ln/>
        </p:spPr>
      </p:sp>
      <p:sp>
        <p:nvSpPr>
          <p:cNvPr id="12" name="Shape 9"/>
          <p:cNvSpPr/>
          <p:nvPr/>
        </p:nvSpPr>
        <p:spPr>
          <a:xfrm>
            <a:off x="502920" y="2834640"/>
            <a:ext cx="54864" cy="475488"/>
          </a:xfrm>
          <a:prstGeom prst="rect">
            <a:avLst/>
          </a:prstGeom>
          <a:solidFill>
            <a:srgbClr val="D97706"/>
          </a:solidFill>
          <a:ln/>
        </p:spPr>
      </p:sp>
      <p:sp>
        <p:nvSpPr>
          <p:cNvPr id="13" name="Text 10"/>
          <p:cNvSpPr/>
          <p:nvPr/>
        </p:nvSpPr>
        <p:spPr>
          <a:xfrm>
            <a:off x="640080" y="2834640"/>
            <a:ext cx="3657600" cy="475488"/>
          </a:xfrm>
          <a:prstGeom prst="rect">
            <a:avLst/>
          </a:prstGeom>
          <a:noFill/>
          <a:ln/>
        </p:spPr>
        <p:txBody>
          <a:bodyPr wrap="square" rtlCol="0" anchor="ctr"/>
          <a:lstStyle/>
          <a:p>
            <a:pPr indent="0" marL="0">
              <a:buNone/>
            </a:pPr>
            <a:r>
              <a:rPr lang="en-US" sz="1000" dirty="0">
                <a:solidFill>
                  <a:srgbClr val="92400E"/>
                </a:solidFill>
              </a:rPr>
              <a:t>Risk:  Stockouts in winter peaks</a:t>
            </a:r>
            <a:endParaRPr lang="en-US" sz="1000" dirty="0"/>
          </a:p>
        </p:txBody>
      </p:sp>
      <p:sp>
        <p:nvSpPr>
          <p:cNvPr id="14" name="Shape 11"/>
          <p:cNvSpPr/>
          <p:nvPr/>
        </p:nvSpPr>
        <p:spPr>
          <a:xfrm>
            <a:off x="502920" y="3401568"/>
            <a:ext cx="3840480" cy="530352"/>
          </a:xfrm>
          <a:prstGeom prst="rect">
            <a:avLst/>
          </a:prstGeom>
          <a:solidFill>
            <a:srgbClr val="D1FAE5"/>
          </a:solidFill>
          <a:ln/>
        </p:spPr>
      </p:sp>
      <p:sp>
        <p:nvSpPr>
          <p:cNvPr id="15" name="Shape 12"/>
          <p:cNvSpPr/>
          <p:nvPr/>
        </p:nvSpPr>
        <p:spPr>
          <a:xfrm>
            <a:off x="502920" y="3401568"/>
            <a:ext cx="54864" cy="530352"/>
          </a:xfrm>
          <a:prstGeom prst="rect">
            <a:avLst/>
          </a:prstGeom>
          <a:solidFill>
            <a:srgbClr val="028090"/>
          </a:solidFill>
          <a:ln/>
        </p:spPr>
      </p:sp>
      <p:sp>
        <p:nvSpPr>
          <p:cNvPr id="16" name="Text 13"/>
          <p:cNvSpPr/>
          <p:nvPr/>
        </p:nvSpPr>
        <p:spPr>
          <a:xfrm>
            <a:off x="640080" y="3401568"/>
            <a:ext cx="3657600" cy="530352"/>
          </a:xfrm>
          <a:prstGeom prst="rect">
            <a:avLst/>
          </a:prstGeom>
          <a:noFill/>
          <a:ln/>
        </p:spPr>
        <p:txBody>
          <a:bodyPr wrap="square" rtlCol="0" anchor="ctr"/>
          <a:lstStyle/>
          <a:p>
            <a:pPr indent="0" marL="0">
              <a:lnSpc>
                <a:spcPct val="130000"/>
              </a:lnSpc>
              <a:buNone/>
            </a:pPr>
            <a:r>
              <a:rPr lang="en-US" sz="1000" dirty="0">
                <a:solidFill>
                  <a:srgbClr val="064E3B"/>
                </a:solidFill>
              </a:rPr>
              <a:t>Opportunity:  Pre-position 6–8 weeks ahead of respiratory season</a:t>
            </a:r>
            <a:endParaRPr lang="en-US" sz="1000" dirty="0"/>
          </a:p>
        </p:txBody>
      </p:sp>
      <p:sp>
        <p:nvSpPr>
          <p:cNvPr id="17" name="Shape 14"/>
          <p:cNvSpPr/>
          <p:nvPr/>
        </p:nvSpPr>
        <p:spPr>
          <a:xfrm>
            <a:off x="4754880" y="822960"/>
            <a:ext cx="4206240" cy="411480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18" name="Shape 15"/>
          <p:cNvSpPr/>
          <p:nvPr/>
        </p:nvSpPr>
        <p:spPr>
          <a:xfrm>
            <a:off x="4754880" y="822960"/>
            <a:ext cx="4206240" cy="658368"/>
          </a:xfrm>
          <a:prstGeom prst="rect">
            <a:avLst/>
          </a:prstGeom>
          <a:solidFill>
            <a:srgbClr val="028090"/>
          </a:solidFill>
          <a:ln/>
        </p:spPr>
      </p:sp>
      <p:pic>
        <p:nvPicPr>
          <p:cNvPr id="19" name="Image 1" descr="preencoded.png">    </p:cNvPr>
          <p:cNvPicPr>
            <a:picLocks noChangeAspect="1"/>
          </p:cNvPicPr>
          <p:nvPr/>
        </p:nvPicPr>
        <p:blipFill>
          <a:blip r:embed="rId2"/>
          <a:stretch>
            <a:fillRect/>
          </a:stretch>
        </p:blipFill>
        <p:spPr>
          <a:xfrm>
            <a:off x="4919472" y="932688"/>
            <a:ext cx="402336" cy="402336"/>
          </a:xfrm>
          <a:prstGeom prst="rect">
            <a:avLst/>
          </a:prstGeom>
        </p:spPr>
      </p:pic>
      <p:sp>
        <p:nvSpPr>
          <p:cNvPr id="20" name="Text 16"/>
          <p:cNvSpPr/>
          <p:nvPr/>
        </p:nvSpPr>
        <p:spPr>
          <a:xfrm>
            <a:off x="5440680" y="841248"/>
            <a:ext cx="3383280" cy="621792"/>
          </a:xfrm>
          <a:prstGeom prst="rect">
            <a:avLst/>
          </a:prstGeom>
          <a:noFill/>
          <a:ln/>
        </p:spPr>
        <p:txBody>
          <a:bodyPr wrap="square" rtlCol="0" anchor="ctr"/>
          <a:lstStyle/>
          <a:p>
            <a:pPr indent="0" marL="0">
              <a:buNone/>
            </a:pPr>
            <a:r>
              <a:rPr lang="en-US" sz="1400" b="1" dirty="0">
                <a:solidFill>
                  <a:srgbClr val="FFFFFF"/>
                </a:solidFill>
              </a:rPr>
              <a:t>R06  —  Antihistamines</a:t>
            </a:r>
            <a:endParaRPr lang="en-US" sz="1400" dirty="0"/>
          </a:p>
        </p:txBody>
      </p:sp>
      <p:sp>
        <p:nvSpPr>
          <p:cNvPr id="21" name="Shape 17"/>
          <p:cNvSpPr/>
          <p:nvPr/>
        </p:nvSpPr>
        <p:spPr>
          <a:xfrm>
            <a:off x="4937760" y="1600200"/>
            <a:ext cx="1463040" cy="274320"/>
          </a:xfrm>
          <a:prstGeom prst="roundRect">
            <a:avLst>
              <a:gd name="adj" fmla="val 20000"/>
            </a:avLst>
          </a:prstGeom>
          <a:solidFill>
            <a:srgbClr val="028090"/>
          </a:solidFill>
          <a:ln/>
        </p:spPr>
      </p:sp>
      <p:sp>
        <p:nvSpPr>
          <p:cNvPr id="22" name="Text 18"/>
          <p:cNvSpPr/>
          <p:nvPr/>
        </p:nvSpPr>
        <p:spPr>
          <a:xfrm>
            <a:off x="4937760" y="1600200"/>
            <a:ext cx="1463040" cy="274320"/>
          </a:xfrm>
          <a:prstGeom prst="rect">
            <a:avLst/>
          </a:prstGeom>
          <a:noFill/>
          <a:ln/>
        </p:spPr>
        <p:txBody>
          <a:bodyPr wrap="square" rtlCol="0" anchor="ctr"/>
          <a:lstStyle/>
          <a:p>
            <a:pPr algn="ctr" indent="0" marL="0">
              <a:buNone/>
            </a:pPr>
            <a:r>
              <a:rPr lang="en-US" sz="850" b="1" dirty="0">
                <a:solidFill>
                  <a:srgbClr val="FFFFFF"/>
                </a:solidFill>
              </a:rPr>
              <a:t>PEAK: Mar – Jul</a:t>
            </a:r>
            <a:endParaRPr lang="en-US" sz="850" dirty="0"/>
          </a:p>
        </p:txBody>
      </p:sp>
      <p:sp>
        <p:nvSpPr>
          <p:cNvPr id="23" name="Text 19"/>
          <p:cNvSpPr/>
          <p:nvPr/>
        </p:nvSpPr>
        <p:spPr>
          <a:xfrm>
            <a:off x="4937760" y="1965960"/>
            <a:ext cx="3840480" cy="777240"/>
          </a:xfrm>
          <a:prstGeom prst="rect">
            <a:avLst/>
          </a:prstGeom>
          <a:noFill/>
          <a:ln/>
        </p:spPr>
        <p:txBody>
          <a:bodyPr wrap="square" rtlCol="0" anchor="ctr"/>
          <a:lstStyle/>
          <a:p>
            <a:pPr indent="0" marL="0">
              <a:lnSpc>
                <a:spcPct val="140000"/>
              </a:lnSpc>
              <a:buNone/>
            </a:pPr>
            <a:r>
              <a:rPr lang="en-US" sz="1100" dirty="0">
                <a:solidFill>
                  <a:srgbClr val="475569"/>
                </a:solidFill>
              </a:rPr>
              <a:t>Seasonal allergy cycle drives clear demand waves. Volume in peak months is meaningfully higher than the winter baseline.</a:t>
            </a:r>
            <a:endParaRPr lang="en-US" sz="1100" dirty="0"/>
          </a:p>
        </p:txBody>
      </p:sp>
      <p:sp>
        <p:nvSpPr>
          <p:cNvPr id="24" name="Shape 20"/>
          <p:cNvSpPr/>
          <p:nvPr/>
        </p:nvSpPr>
        <p:spPr>
          <a:xfrm>
            <a:off x="4937760" y="2834640"/>
            <a:ext cx="3840480" cy="475488"/>
          </a:xfrm>
          <a:prstGeom prst="rect">
            <a:avLst/>
          </a:prstGeom>
          <a:solidFill>
            <a:srgbClr val="FEF3C7"/>
          </a:solidFill>
          <a:ln/>
        </p:spPr>
      </p:sp>
      <p:sp>
        <p:nvSpPr>
          <p:cNvPr id="25" name="Shape 21"/>
          <p:cNvSpPr/>
          <p:nvPr/>
        </p:nvSpPr>
        <p:spPr>
          <a:xfrm>
            <a:off x="4937760" y="2834640"/>
            <a:ext cx="54864" cy="475488"/>
          </a:xfrm>
          <a:prstGeom prst="rect">
            <a:avLst/>
          </a:prstGeom>
          <a:solidFill>
            <a:srgbClr val="D97706"/>
          </a:solidFill>
          <a:ln/>
        </p:spPr>
      </p:sp>
      <p:sp>
        <p:nvSpPr>
          <p:cNvPr id="26" name="Text 22"/>
          <p:cNvSpPr/>
          <p:nvPr/>
        </p:nvSpPr>
        <p:spPr>
          <a:xfrm>
            <a:off x="5074920" y="2834640"/>
            <a:ext cx="3657600" cy="475488"/>
          </a:xfrm>
          <a:prstGeom prst="rect">
            <a:avLst/>
          </a:prstGeom>
          <a:noFill/>
          <a:ln/>
        </p:spPr>
        <p:txBody>
          <a:bodyPr wrap="square" rtlCol="0" anchor="ctr"/>
          <a:lstStyle/>
          <a:p>
            <a:pPr indent="0" marL="0">
              <a:buNone/>
            </a:pPr>
            <a:r>
              <a:rPr lang="en-US" sz="1000" dirty="0">
                <a:solidFill>
                  <a:srgbClr val="92400E"/>
                </a:solidFill>
              </a:rPr>
              <a:t>Risk:  Overstock in off-season</a:t>
            </a:r>
            <a:endParaRPr lang="en-US" sz="1000" dirty="0"/>
          </a:p>
        </p:txBody>
      </p:sp>
      <p:sp>
        <p:nvSpPr>
          <p:cNvPr id="27" name="Shape 23"/>
          <p:cNvSpPr/>
          <p:nvPr/>
        </p:nvSpPr>
        <p:spPr>
          <a:xfrm>
            <a:off x="4937760" y="3401568"/>
            <a:ext cx="3840480" cy="530352"/>
          </a:xfrm>
          <a:prstGeom prst="rect">
            <a:avLst/>
          </a:prstGeom>
          <a:solidFill>
            <a:srgbClr val="D1FAE5"/>
          </a:solidFill>
          <a:ln/>
        </p:spPr>
      </p:sp>
      <p:sp>
        <p:nvSpPr>
          <p:cNvPr id="28" name="Shape 24"/>
          <p:cNvSpPr/>
          <p:nvPr/>
        </p:nvSpPr>
        <p:spPr>
          <a:xfrm>
            <a:off x="4937760" y="3401568"/>
            <a:ext cx="54864" cy="530352"/>
          </a:xfrm>
          <a:prstGeom prst="rect">
            <a:avLst/>
          </a:prstGeom>
          <a:solidFill>
            <a:srgbClr val="028090"/>
          </a:solidFill>
          <a:ln/>
        </p:spPr>
      </p:sp>
      <p:sp>
        <p:nvSpPr>
          <p:cNvPr id="29" name="Text 25"/>
          <p:cNvSpPr/>
          <p:nvPr/>
        </p:nvSpPr>
        <p:spPr>
          <a:xfrm>
            <a:off x="5074920" y="3401568"/>
            <a:ext cx="3657600" cy="530352"/>
          </a:xfrm>
          <a:prstGeom prst="rect">
            <a:avLst/>
          </a:prstGeom>
          <a:noFill/>
          <a:ln/>
        </p:spPr>
        <p:txBody>
          <a:bodyPr wrap="square" rtlCol="0" anchor="ctr"/>
          <a:lstStyle/>
          <a:p>
            <a:pPr indent="0" marL="0">
              <a:lnSpc>
                <a:spcPct val="130000"/>
              </a:lnSpc>
              <a:buNone/>
            </a:pPr>
            <a:r>
              <a:rPr lang="en-US" sz="1000" dirty="0">
                <a:solidFill>
                  <a:srgbClr val="064E3B"/>
                </a:solidFill>
              </a:rPr>
              <a:t>Opportunity:  Align promotions and procurement to allergy calendar</a:t>
            </a:r>
            <a:endParaRPr lang="en-US" sz="1000" dirty="0"/>
          </a:p>
        </p:txBody>
      </p:sp>
      <p:sp>
        <p:nvSpPr>
          <p:cNvPr id="30" name="Text 26"/>
          <p:cNvSpPr/>
          <p:nvPr/>
        </p:nvSpPr>
        <p:spPr>
          <a:xfrm>
            <a:off x="320040" y="4773168"/>
            <a:ext cx="8503920" cy="292608"/>
          </a:xfrm>
          <a:prstGeom prst="rect">
            <a:avLst/>
          </a:prstGeom>
          <a:noFill/>
          <a:ln/>
        </p:spPr>
        <p:txBody>
          <a:bodyPr wrap="square" rtlCol="0" anchor="ctr"/>
          <a:lstStyle/>
          <a:p>
            <a:pPr algn="ctr" indent="0" marL="0">
              <a:buNone/>
            </a:pPr>
            <a:r>
              <a:rPr lang="en-US" sz="950" dirty="0">
                <a:solidFill>
                  <a:srgbClr val="94A3B8"/>
                </a:solidFill>
              </a:rPr>
              <a:t>Both categories show statistically significant annual demand cycles confirmed across multiple years of data. These patterns are reliable enough to build procurement strategy around.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137"/>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800" b="1" dirty="0">
                <a:solidFill>
                  <a:srgbClr val="FFFFFF"/>
                </a:solidFill>
              </a:rPr>
              <a:t>Findings 3 &amp; 4: Two Categories Require Immediate Leadership Attention</a:t>
            </a:r>
            <a:endParaRPr lang="en-US" sz="1800" dirty="0"/>
          </a:p>
        </p:txBody>
      </p:sp>
      <p:sp>
        <p:nvSpPr>
          <p:cNvPr id="4" name="Shape 2"/>
          <p:cNvSpPr/>
          <p:nvPr/>
        </p:nvSpPr>
        <p:spPr>
          <a:xfrm>
            <a:off x="320040" y="822960"/>
            <a:ext cx="8503920" cy="187452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5" name="Shape 3"/>
          <p:cNvSpPr/>
          <p:nvPr/>
        </p:nvSpPr>
        <p:spPr>
          <a:xfrm>
            <a:off x="320040" y="822960"/>
            <a:ext cx="8503920" cy="438912"/>
          </a:xfrm>
          <a:prstGeom prst="rect">
            <a:avLst/>
          </a:prstGeom>
          <a:solidFill>
            <a:srgbClr val="D97706"/>
          </a:solidFill>
          <a:ln/>
        </p:spPr>
      </p:sp>
      <p:pic>
        <p:nvPicPr>
          <p:cNvPr id="6" name="Image 0" descr="preencoded.png">    </p:cNvPr>
          <p:cNvPicPr>
            <a:picLocks noChangeAspect="1"/>
          </p:cNvPicPr>
          <p:nvPr/>
        </p:nvPicPr>
        <p:blipFill>
          <a:blip r:embed="rId1"/>
          <a:stretch>
            <a:fillRect/>
          </a:stretch>
        </p:blipFill>
        <p:spPr>
          <a:xfrm>
            <a:off x="475488" y="896112"/>
            <a:ext cx="347472" cy="301752"/>
          </a:xfrm>
          <a:prstGeom prst="rect">
            <a:avLst/>
          </a:prstGeom>
        </p:spPr>
      </p:pic>
      <p:sp>
        <p:nvSpPr>
          <p:cNvPr id="7" name="Text 4"/>
          <p:cNvSpPr/>
          <p:nvPr/>
        </p:nvSpPr>
        <p:spPr>
          <a:xfrm>
            <a:off x="960120" y="841248"/>
            <a:ext cx="7589520" cy="420624"/>
          </a:xfrm>
          <a:prstGeom prst="rect">
            <a:avLst/>
          </a:prstGeom>
          <a:noFill/>
          <a:ln/>
        </p:spPr>
        <p:txBody>
          <a:bodyPr wrap="square" rtlCol="0" anchor="ctr"/>
          <a:lstStyle/>
          <a:p>
            <a:pPr indent="0" marL="0">
              <a:buNone/>
            </a:pPr>
            <a:r>
              <a:rPr lang="en-US" sz="1400" b="1" dirty="0">
                <a:solidFill>
                  <a:srgbClr val="FFFFFF"/>
                </a:solidFill>
              </a:rPr>
              <a:t>N02BA  |  Aspirin: Structural Demand Decline</a:t>
            </a:r>
            <a:endParaRPr lang="en-US" sz="1400" dirty="0"/>
          </a:p>
        </p:txBody>
      </p:sp>
      <p:sp>
        <p:nvSpPr>
          <p:cNvPr id="8" name="Text 5"/>
          <p:cNvSpPr/>
          <p:nvPr/>
        </p:nvSpPr>
        <p:spPr>
          <a:xfrm>
            <a:off x="502920" y="1344168"/>
            <a:ext cx="5029200" cy="777240"/>
          </a:xfrm>
          <a:prstGeom prst="rect">
            <a:avLst/>
          </a:prstGeom>
          <a:noFill/>
          <a:ln/>
        </p:spPr>
        <p:txBody>
          <a:bodyPr wrap="square" rtlCol="0" anchor="ctr"/>
          <a:lstStyle/>
          <a:p>
            <a:pPr indent="0" marL="0">
              <a:lnSpc>
                <a:spcPct val="140000"/>
              </a:lnSpc>
              <a:buNone/>
            </a:pPr>
            <a:r>
              <a:rPr lang="en-US" sz="1100" dirty="0">
                <a:solidFill>
                  <a:srgbClr val="475569"/>
                </a:solidFill>
              </a:rPr>
              <a:t>Aspirin is the only product in the portfolio where demand is not statistically stable over time. The trend is downward — consistent with broader market evidence of physician and consumer migration toward paracetamol and ibuprofen as first-line analgesics.</a:t>
            </a:r>
            <a:endParaRPr lang="en-US" sz="1100" dirty="0"/>
          </a:p>
        </p:txBody>
      </p:sp>
      <p:sp>
        <p:nvSpPr>
          <p:cNvPr id="9" name="Shape 6"/>
          <p:cNvSpPr/>
          <p:nvPr/>
        </p:nvSpPr>
        <p:spPr>
          <a:xfrm>
            <a:off x="5715000" y="1298448"/>
            <a:ext cx="2971800" cy="1307592"/>
          </a:xfrm>
          <a:prstGeom prst="rect">
            <a:avLst/>
          </a:prstGeom>
          <a:solidFill>
            <a:srgbClr val="FFFBEB"/>
          </a:solidFill>
          <a:ln w="10160">
            <a:solidFill>
              <a:srgbClr val="D97706"/>
            </a:solidFill>
            <a:prstDash val="solid"/>
          </a:ln>
        </p:spPr>
      </p:sp>
      <p:sp>
        <p:nvSpPr>
          <p:cNvPr id="10" name="Text 7"/>
          <p:cNvSpPr/>
          <p:nvPr/>
        </p:nvSpPr>
        <p:spPr>
          <a:xfrm>
            <a:off x="5833872" y="1371600"/>
            <a:ext cx="2743200" cy="274320"/>
          </a:xfrm>
          <a:prstGeom prst="rect">
            <a:avLst/>
          </a:prstGeom>
          <a:noFill/>
          <a:ln/>
        </p:spPr>
        <p:txBody>
          <a:bodyPr wrap="square" rtlCol="0" anchor="ctr"/>
          <a:lstStyle/>
          <a:p>
            <a:pPr indent="0" marL="0">
              <a:buNone/>
            </a:pPr>
            <a:r>
              <a:rPr lang="en-US" sz="950" b="1" dirty="0">
                <a:solidFill>
                  <a:srgbClr val="92400E"/>
                </a:solidFill>
              </a:rPr>
              <a:t>What this means for the business:</a:t>
            </a:r>
            <a:endParaRPr lang="en-US" sz="950" dirty="0"/>
          </a:p>
        </p:txBody>
      </p:sp>
      <p:sp>
        <p:nvSpPr>
          <p:cNvPr id="11" name="Text 8"/>
          <p:cNvSpPr/>
          <p:nvPr/>
        </p:nvSpPr>
        <p:spPr>
          <a:xfrm>
            <a:off x="5833872" y="1664208"/>
            <a:ext cx="2788920" cy="822960"/>
          </a:xfrm>
          <a:prstGeom prst="rect">
            <a:avLst/>
          </a:prstGeom>
          <a:noFill/>
          <a:ln/>
        </p:spPr>
        <p:txBody>
          <a:bodyPr wrap="square" rtlCol="0" anchor="ctr"/>
          <a:lstStyle/>
          <a:p>
            <a:pPr marL="342900" indent="-342900">
              <a:buSzPct val="100000"/>
              <a:buChar char="•"/>
            </a:pPr>
            <a:r>
              <a:rPr lang="en-US" sz="1000" dirty="0">
                <a:solidFill>
                  <a:srgbClr val="78350F"/>
                </a:solidFill>
              </a:rPr>
              <a:t>Review shelf space allocation</a:t>
            </a:r>
            <a:endParaRPr lang="en-US" sz="1000" dirty="0"/>
          </a:p>
          <a:p>
            <a:pPr marL="342900" indent="-342900">
              <a:buSzPct val="100000"/>
              <a:buChar char="•"/>
            </a:pPr>
            <a:r>
              <a:rPr lang="en-US" sz="1000" dirty="0">
                <a:solidFill>
                  <a:srgbClr val="78350F"/>
                </a:solidFill>
              </a:rPr>
              <a:t>Reassess promotional investment</a:t>
            </a:r>
            <a:endParaRPr lang="en-US" sz="1000" dirty="0"/>
          </a:p>
          <a:p>
            <a:pPr marL="342900" indent="-342900">
              <a:buSzPct val="100000"/>
              <a:buChar char="•"/>
            </a:pPr>
            <a:r>
              <a:rPr lang="en-US" sz="1000" dirty="0">
                <a:solidFill>
                  <a:srgbClr val="78350F"/>
                </a:solidFill>
              </a:rPr>
              <a:t>Confirm trend with commercial team</a:t>
            </a:r>
            <a:endParaRPr lang="en-US" sz="1000" dirty="0"/>
          </a:p>
        </p:txBody>
      </p:sp>
      <p:sp>
        <p:nvSpPr>
          <p:cNvPr id="12" name="Shape 9"/>
          <p:cNvSpPr/>
          <p:nvPr/>
        </p:nvSpPr>
        <p:spPr>
          <a:xfrm>
            <a:off x="320040" y="2852928"/>
            <a:ext cx="8503920" cy="2011680"/>
          </a:xfrm>
          <a:prstGeom prst="rect">
            <a:avLst/>
          </a:prstGeom>
          <a:solidFill>
            <a:srgbClr val="FFFFFF"/>
          </a:solidFill>
          <a:ln/>
          <a:effectLst>
            <a:outerShdw sx="100000" sy="100000" kx="0" ky="0" algn="bl" rotWithShape="0" blurRad="101600" dist="38100" dir="8100000">
              <a:srgbClr val="000000">
                <a:alpha val="14000"/>
              </a:srgbClr>
            </a:outerShdw>
          </a:effectLst>
        </p:spPr>
      </p:sp>
      <p:sp>
        <p:nvSpPr>
          <p:cNvPr id="13" name="Shape 10"/>
          <p:cNvSpPr/>
          <p:nvPr/>
        </p:nvSpPr>
        <p:spPr>
          <a:xfrm>
            <a:off x="320040" y="2852928"/>
            <a:ext cx="8503920" cy="438912"/>
          </a:xfrm>
          <a:prstGeom prst="rect">
            <a:avLst/>
          </a:prstGeom>
          <a:solidFill>
            <a:srgbClr val="C0392B"/>
          </a:solidFill>
          <a:ln/>
        </p:spPr>
      </p:sp>
      <p:pic>
        <p:nvPicPr>
          <p:cNvPr id="14" name="Image 1" descr="preencoded.png">    </p:cNvPr>
          <p:cNvPicPr>
            <a:picLocks noChangeAspect="1"/>
          </p:cNvPicPr>
          <p:nvPr/>
        </p:nvPicPr>
        <p:blipFill>
          <a:blip r:embed="rId2"/>
          <a:stretch>
            <a:fillRect/>
          </a:stretch>
        </p:blipFill>
        <p:spPr>
          <a:xfrm>
            <a:off x="475488" y="2926080"/>
            <a:ext cx="347472" cy="301752"/>
          </a:xfrm>
          <a:prstGeom prst="rect">
            <a:avLst/>
          </a:prstGeom>
        </p:spPr>
      </p:pic>
      <p:sp>
        <p:nvSpPr>
          <p:cNvPr id="15" name="Text 11"/>
          <p:cNvSpPr/>
          <p:nvPr/>
        </p:nvSpPr>
        <p:spPr>
          <a:xfrm>
            <a:off x="960120" y="2871216"/>
            <a:ext cx="7589520" cy="420624"/>
          </a:xfrm>
          <a:prstGeom prst="rect">
            <a:avLst/>
          </a:prstGeom>
          <a:noFill/>
          <a:ln/>
        </p:spPr>
        <p:txBody>
          <a:bodyPr wrap="square" rtlCol="0" anchor="ctr"/>
          <a:lstStyle/>
          <a:p>
            <a:pPr indent="0" marL="0">
              <a:buNone/>
            </a:pPr>
            <a:r>
              <a:rPr lang="en-US" sz="1400" b="1" dirty="0">
                <a:solidFill>
                  <a:srgbClr val="FFFFFF"/>
                </a:solidFill>
              </a:rPr>
              <a:t>N05C  |  Sedatives: A Supply Chain Wildcard</a:t>
            </a:r>
            <a:endParaRPr lang="en-US" sz="1400" dirty="0"/>
          </a:p>
        </p:txBody>
      </p:sp>
      <p:sp>
        <p:nvSpPr>
          <p:cNvPr id="16" name="Text 12"/>
          <p:cNvSpPr/>
          <p:nvPr/>
        </p:nvSpPr>
        <p:spPr>
          <a:xfrm>
            <a:off x="502920" y="3383280"/>
            <a:ext cx="5029200" cy="1005840"/>
          </a:xfrm>
          <a:prstGeom prst="rect">
            <a:avLst/>
          </a:prstGeom>
          <a:noFill/>
          <a:ln/>
        </p:spPr>
        <p:txBody>
          <a:bodyPr wrap="square" rtlCol="0" anchor="ctr"/>
          <a:lstStyle/>
          <a:p>
            <a:pPr indent="0" marL="0">
              <a:lnSpc>
                <a:spcPct val="140000"/>
              </a:lnSpc>
              <a:buNone/>
            </a:pPr>
            <a:r>
              <a:rPr lang="en-US" sz="1100" dirty="0">
                <a:solidFill>
                  <a:srgbClr val="475569"/>
                </a:solidFill>
              </a:rPr>
              <a:t>Sedatives showed 52.6% demand noise — meaning over half of observed sales volume cannot be explained by any historical trend, season, or statistical pattern. This is not a data quality issue. It reflects the nature of sedative prescribing: sensitive to individual physician decisions, patient episodes, and regulatory shifts that no model can anticipate.</a:t>
            </a:r>
            <a:endParaRPr lang="en-US" sz="1100" dirty="0"/>
          </a:p>
        </p:txBody>
      </p:sp>
      <p:sp>
        <p:nvSpPr>
          <p:cNvPr id="17" name="Shape 13"/>
          <p:cNvSpPr/>
          <p:nvPr/>
        </p:nvSpPr>
        <p:spPr>
          <a:xfrm>
            <a:off x="5715000" y="3346704"/>
            <a:ext cx="2971800" cy="1389888"/>
          </a:xfrm>
          <a:prstGeom prst="rect">
            <a:avLst/>
          </a:prstGeom>
          <a:solidFill>
            <a:srgbClr val="FEF2F2"/>
          </a:solidFill>
          <a:ln w="10160">
            <a:solidFill>
              <a:srgbClr val="C0392B"/>
            </a:solidFill>
            <a:prstDash val="solid"/>
          </a:ln>
        </p:spPr>
      </p:sp>
      <p:sp>
        <p:nvSpPr>
          <p:cNvPr id="18" name="Text 14"/>
          <p:cNvSpPr/>
          <p:nvPr/>
        </p:nvSpPr>
        <p:spPr>
          <a:xfrm>
            <a:off x="5833872" y="3401568"/>
            <a:ext cx="2743200" cy="274320"/>
          </a:xfrm>
          <a:prstGeom prst="rect">
            <a:avLst/>
          </a:prstGeom>
          <a:noFill/>
          <a:ln/>
        </p:spPr>
        <p:txBody>
          <a:bodyPr wrap="square" rtlCol="0" anchor="ctr"/>
          <a:lstStyle/>
          <a:p>
            <a:pPr indent="0" marL="0">
              <a:buNone/>
            </a:pPr>
            <a:r>
              <a:rPr lang="en-US" sz="950" b="1" dirty="0">
                <a:solidFill>
                  <a:srgbClr val="991B1B"/>
                </a:solidFill>
              </a:rPr>
              <a:t>Recommended supply posture:</a:t>
            </a:r>
            <a:endParaRPr lang="en-US" sz="950" dirty="0"/>
          </a:p>
        </p:txBody>
      </p:sp>
      <p:sp>
        <p:nvSpPr>
          <p:cNvPr id="19" name="Text 15"/>
          <p:cNvSpPr/>
          <p:nvPr/>
        </p:nvSpPr>
        <p:spPr>
          <a:xfrm>
            <a:off x="5833872" y="3675888"/>
            <a:ext cx="2788920" cy="987552"/>
          </a:xfrm>
          <a:prstGeom prst="rect">
            <a:avLst/>
          </a:prstGeom>
          <a:noFill/>
          <a:ln/>
        </p:spPr>
        <p:txBody>
          <a:bodyPr wrap="square" rtlCol="0" anchor="ctr"/>
          <a:lstStyle/>
          <a:p>
            <a:pPr marL="342900" indent="-342900">
              <a:buSzPct val="100000"/>
              <a:buChar char="•"/>
            </a:pPr>
            <a:r>
              <a:rPr lang="en-US" sz="1000" dirty="0">
                <a:solidFill>
                  <a:srgbClr val="7F1D1D"/>
                </a:solidFill>
              </a:rPr>
              <a:t>Hold larger safety stock buffer</a:t>
            </a:r>
            <a:endParaRPr lang="en-US" sz="1000" dirty="0"/>
          </a:p>
          <a:p>
            <a:pPr marL="342900" indent="-342900">
              <a:buSzPct val="100000"/>
              <a:buChar char="•"/>
            </a:pPr>
            <a:r>
              <a:rPr lang="en-US" sz="1000" dirty="0">
                <a:solidFill>
                  <a:srgbClr val="7F1D1D"/>
                </a:solidFill>
              </a:rPr>
              <a:t>Increase S&amp;OP review frequency</a:t>
            </a:r>
            <a:endParaRPr lang="en-US" sz="1000" dirty="0"/>
          </a:p>
          <a:p>
            <a:pPr marL="342900" indent="-342900">
              <a:buSzPct val="100000"/>
              <a:buChar char="•"/>
            </a:pPr>
            <a:r>
              <a:rPr lang="en-US" sz="1000" dirty="0">
                <a:solidFill>
                  <a:srgbClr val="7F1D1D"/>
                </a:solidFill>
              </a:rPr>
              <a:t>Monitor regulatory &amp; clinical signals</a:t>
            </a:r>
            <a:endParaRPr lang="en-US" sz="1000" dirty="0"/>
          </a:p>
          <a:p>
            <a:pPr marL="342900" indent="-342900">
              <a:buSzPct val="100000"/>
              <a:buChar char="•"/>
            </a:pPr>
            <a:r>
              <a:rPr lang="en-US" sz="1000" dirty="0">
                <a:solidFill>
                  <a:srgbClr val="7F1D1D"/>
                </a:solidFill>
              </a:rPr>
              <a:t>Do not rely on model output alone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2000" b="1" dirty="0">
                <a:solidFill>
                  <a:srgbClr val="FFFFFF"/>
                </a:solidFill>
              </a:rPr>
              <a:t>Strategic Recommendations</a:t>
            </a:r>
            <a:endParaRPr lang="en-US" sz="2000" dirty="0"/>
          </a:p>
        </p:txBody>
      </p:sp>
      <p:sp>
        <p:nvSpPr>
          <p:cNvPr id="4" name="Shape 2"/>
          <p:cNvSpPr/>
          <p:nvPr/>
        </p:nvSpPr>
        <p:spPr>
          <a:xfrm>
            <a:off x="320040" y="804672"/>
            <a:ext cx="8503920" cy="1261872"/>
          </a:xfrm>
          <a:prstGeom prst="rect">
            <a:avLst/>
          </a:prstGeom>
          <a:solidFill>
            <a:srgbClr val="102A45"/>
          </a:solidFill>
          <a:ln/>
          <a:effectLst>
            <a:outerShdw sx="100000" sy="100000" kx="0" ky="0" algn="bl" rotWithShape="0" blurRad="101600" dist="38100" dir="8100000">
              <a:srgbClr val="000000">
                <a:alpha val="14000"/>
              </a:srgbClr>
            </a:outerShdw>
          </a:effectLst>
        </p:spPr>
      </p:sp>
      <p:sp>
        <p:nvSpPr>
          <p:cNvPr id="5" name="Shape 3"/>
          <p:cNvSpPr/>
          <p:nvPr/>
        </p:nvSpPr>
        <p:spPr>
          <a:xfrm>
            <a:off x="320040" y="804672"/>
            <a:ext cx="73152" cy="1261872"/>
          </a:xfrm>
          <a:prstGeom prst="rect">
            <a:avLst/>
          </a:prstGeom>
          <a:solidFill>
            <a:srgbClr val="0F7EB8"/>
          </a:solidFill>
          <a:ln/>
        </p:spPr>
      </p:sp>
      <p:sp>
        <p:nvSpPr>
          <p:cNvPr id="6" name="Text 4"/>
          <p:cNvSpPr/>
          <p:nvPr/>
        </p:nvSpPr>
        <p:spPr>
          <a:xfrm>
            <a:off x="384048" y="822960"/>
            <a:ext cx="777240" cy="1042416"/>
          </a:xfrm>
          <a:prstGeom prst="rect">
            <a:avLst/>
          </a:prstGeom>
          <a:noFill/>
          <a:ln/>
        </p:spPr>
        <p:txBody>
          <a:bodyPr wrap="square" rtlCol="0" anchor="ctr"/>
          <a:lstStyle/>
          <a:p>
            <a:pPr algn="ctr" indent="0" marL="0">
              <a:buNone/>
            </a:pPr>
            <a:r>
              <a:rPr lang="en-US" sz="2800" b="1" dirty="0">
                <a:solidFill>
                  <a:srgbClr val="0F7EB8"/>
                </a:solidFill>
              </a:rPr>
              <a:t>01</a:t>
            </a:r>
            <a:endParaRPr lang="en-US" sz="2800" dirty="0"/>
          </a:p>
        </p:txBody>
      </p:sp>
      <p:sp>
        <p:nvSpPr>
          <p:cNvPr id="7" name="Text 5"/>
          <p:cNvSpPr/>
          <p:nvPr/>
        </p:nvSpPr>
        <p:spPr>
          <a:xfrm>
            <a:off x="1261872" y="914400"/>
            <a:ext cx="4937760" cy="347472"/>
          </a:xfrm>
          <a:prstGeom prst="rect">
            <a:avLst/>
          </a:prstGeom>
          <a:noFill/>
          <a:ln/>
        </p:spPr>
        <p:txBody>
          <a:bodyPr wrap="square" rtlCol="0" anchor="ctr"/>
          <a:lstStyle/>
          <a:p>
            <a:pPr indent="0" marL="0">
              <a:buNone/>
            </a:pPr>
            <a:r>
              <a:rPr lang="en-US" sz="1300" b="1" dirty="0">
                <a:solidFill>
                  <a:srgbClr val="FFFFFF"/>
                </a:solidFill>
              </a:rPr>
              <a:t>Split your supply chain into two operating models</a:t>
            </a:r>
            <a:endParaRPr lang="en-US" sz="1300" dirty="0"/>
          </a:p>
        </p:txBody>
      </p:sp>
      <p:sp>
        <p:nvSpPr>
          <p:cNvPr id="8" name="Shape 6"/>
          <p:cNvSpPr/>
          <p:nvPr/>
        </p:nvSpPr>
        <p:spPr>
          <a:xfrm>
            <a:off x="6400800" y="914400"/>
            <a:ext cx="1188720" cy="237744"/>
          </a:xfrm>
          <a:prstGeom prst="roundRect">
            <a:avLst>
              <a:gd name="adj" fmla="val 19231"/>
            </a:avLst>
          </a:prstGeom>
          <a:solidFill>
            <a:srgbClr val="0F7EB8"/>
          </a:solidFill>
          <a:ln/>
        </p:spPr>
      </p:sp>
      <p:sp>
        <p:nvSpPr>
          <p:cNvPr id="9" name="Text 7"/>
          <p:cNvSpPr/>
          <p:nvPr/>
        </p:nvSpPr>
        <p:spPr>
          <a:xfrm>
            <a:off x="6400800" y="914400"/>
            <a:ext cx="1188720" cy="237744"/>
          </a:xfrm>
          <a:prstGeom prst="rect">
            <a:avLst/>
          </a:prstGeom>
          <a:noFill/>
          <a:ln/>
        </p:spPr>
        <p:txBody>
          <a:bodyPr wrap="square" rtlCol="0" anchor="ctr"/>
          <a:lstStyle/>
          <a:p>
            <a:pPr algn="ctr" indent="0" marL="0">
              <a:buNone/>
            </a:pPr>
            <a:r>
              <a:rPr lang="en-US" sz="750" b="1" dirty="0">
                <a:solidFill>
                  <a:srgbClr val="FFFFFF"/>
                </a:solidFill>
              </a:rPr>
              <a:t>COO + Supply Chain</a:t>
            </a:r>
            <a:endParaRPr lang="en-US" sz="750" dirty="0"/>
          </a:p>
        </p:txBody>
      </p:sp>
      <p:sp>
        <p:nvSpPr>
          <p:cNvPr id="10" name="Shape 8"/>
          <p:cNvSpPr/>
          <p:nvPr/>
        </p:nvSpPr>
        <p:spPr>
          <a:xfrm>
            <a:off x="7699248" y="914400"/>
            <a:ext cx="1051560" cy="237744"/>
          </a:xfrm>
          <a:prstGeom prst="roundRect">
            <a:avLst>
              <a:gd name="adj" fmla="val 19231"/>
            </a:avLst>
          </a:prstGeom>
          <a:solidFill>
            <a:srgbClr val="FFFFFF">
              <a:alpha val="20000"/>
            </a:srgbClr>
          </a:solidFill>
          <a:ln/>
        </p:spPr>
      </p:sp>
      <p:sp>
        <p:nvSpPr>
          <p:cNvPr id="11" name="Text 9"/>
          <p:cNvSpPr/>
          <p:nvPr/>
        </p:nvSpPr>
        <p:spPr>
          <a:xfrm>
            <a:off x="7699248" y="914400"/>
            <a:ext cx="1051560" cy="237744"/>
          </a:xfrm>
          <a:prstGeom prst="rect">
            <a:avLst/>
          </a:prstGeom>
          <a:noFill/>
          <a:ln/>
        </p:spPr>
        <p:txBody>
          <a:bodyPr wrap="square" rtlCol="0" anchor="ctr"/>
          <a:lstStyle/>
          <a:p>
            <a:pPr algn="ctr" indent="0" marL="0">
              <a:buNone/>
            </a:pPr>
            <a:r>
              <a:rPr lang="en-US" sz="750" dirty="0">
                <a:solidFill>
                  <a:srgbClr val="FFFFFF"/>
                </a:solidFill>
              </a:rPr>
              <a:t>Next planning cycle</a:t>
            </a:r>
            <a:endParaRPr lang="en-US" sz="750" dirty="0"/>
          </a:p>
        </p:txBody>
      </p:sp>
      <p:sp>
        <p:nvSpPr>
          <p:cNvPr id="12" name="Text 10"/>
          <p:cNvSpPr/>
          <p:nvPr/>
        </p:nvSpPr>
        <p:spPr>
          <a:xfrm>
            <a:off x="1261872" y="1280160"/>
            <a:ext cx="7178040" cy="713232"/>
          </a:xfrm>
          <a:prstGeom prst="rect">
            <a:avLst/>
          </a:prstGeom>
          <a:noFill/>
          <a:ln/>
        </p:spPr>
        <p:txBody>
          <a:bodyPr wrap="square" rtlCol="0" anchor="ctr"/>
          <a:lstStyle/>
          <a:p>
            <a:pPr indent="0" marL="0">
              <a:lnSpc>
                <a:spcPct val="140000"/>
              </a:lnSpc>
              <a:buNone/>
            </a:pPr>
            <a:r>
              <a:rPr lang="en-US" sz="1000" dirty="0">
                <a:solidFill>
                  <a:srgbClr val="94A3B8"/>
                </a:solidFill>
              </a:rPr>
              <a:t>Manage your 4 analgesic/anti-inflammatory lines under a lean, demand-driven replenishment model. Manage respiratory, allergy, and CNS drugs under a seasonal, forward-positioned stocking model. These are fundamentally different businesses from a supply perspective and should not share the same planning assumptions.</a:t>
            </a:r>
            <a:endParaRPr lang="en-US" sz="1000" dirty="0"/>
          </a:p>
        </p:txBody>
      </p:sp>
      <p:sp>
        <p:nvSpPr>
          <p:cNvPr id="13" name="Shape 11"/>
          <p:cNvSpPr/>
          <p:nvPr/>
        </p:nvSpPr>
        <p:spPr>
          <a:xfrm>
            <a:off x="320040" y="2212848"/>
            <a:ext cx="8503920" cy="1261872"/>
          </a:xfrm>
          <a:prstGeom prst="rect">
            <a:avLst/>
          </a:prstGeom>
          <a:solidFill>
            <a:srgbClr val="102A45"/>
          </a:solidFill>
          <a:ln/>
          <a:effectLst>
            <a:outerShdw sx="100000" sy="100000" kx="0" ky="0" algn="bl" rotWithShape="0" blurRad="101600" dist="38100" dir="8100000">
              <a:srgbClr val="000000">
                <a:alpha val="14000"/>
              </a:srgbClr>
            </a:outerShdw>
          </a:effectLst>
        </p:spPr>
      </p:sp>
      <p:sp>
        <p:nvSpPr>
          <p:cNvPr id="14" name="Shape 12"/>
          <p:cNvSpPr/>
          <p:nvPr/>
        </p:nvSpPr>
        <p:spPr>
          <a:xfrm>
            <a:off x="320040" y="2212848"/>
            <a:ext cx="73152" cy="1261872"/>
          </a:xfrm>
          <a:prstGeom prst="rect">
            <a:avLst/>
          </a:prstGeom>
          <a:solidFill>
            <a:srgbClr val="D97706"/>
          </a:solidFill>
          <a:ln/>
        </p:spPr>
      </p:sp>
      <p:sp>
        <p:nvSpPr>
          <p:cNvPr id="15" name="Text 13"/>
          <p:cNvSpPr/>
          <p:nvPr/>
        </p:nvSpPr>
        <p:spPr>
          <a:xfrm>
            <a:off x="384048" y="2231136"/>
            <a:ext cx="777240" cy="1042416"/>
          </a:xfrm>
          <a:prstGeom prst="rect">
            <a:avLst/>
          </a:prstGeom>
          <a:noFill/>
          <a:ln/>
        </p:spPr>
        <p:txBody>
          <a:bodyPr wrap="square" rtlCol="0" anchor="ctr"/>
          <a:lstStyle/>
          <a:p>
            <a:pPr algn="ctr" indent="0" marL="0">
              <a:buNone/>
            </a:pPr>
            <a:r>
              <a:rPr lang="en-US" sz="2800" b="1" dirty="0">
                <a:solidFill>
                  <a:srgbClr val="D97706"/>
                </a:solidFill>
              </a:rPr>
              <a:t>02</a:t>
            </a:r>
            <a:endParaRPr lang="en-US" sz="2800" dirty="0"/>
          </a:p>
        </p:txBody>
      </p:sp>
      <p:sp>
        <p:nvSpPr>
          <p:cNvPr id="16" name="Text 14"/>
          <p:cNvSpPr/>
          <p:nvPr/>
        </p:nvSpPr>
        <p:spPr>
          <a:xfrm>
            <a:off x="1261872" y="2322576"/>
            <a:ext cx="4937760" cy="347472"/>
          </a:xfrm>
          <a:prstGeom prst="rect">
            <a:avLst/>
          </a:prstGeom>
          <a:noFill/>
          <a:ln/>
        </p:spPr>
        <p:txBody>
          <a:bodyPr wrap="square" rtlCol="0" anchor="ctr"/>
          <a:lstStyle/>
          <a:p>
            <a:pPr indent="0" marL="0">
              <a:buNone/>
            </a:pPr>
            <a:r>
              <a:rPr lang="en-US" sz="1300" b="1" dirty="0">
                <a:solidFill>
                  <a:srgbClr val="FFFFFF"/>
                </a:solidFill>
              </a:rPr>
              <a:t>Commission a commercial review on aspirin</a:t>
            </a:r>
            <a:endParaRPr lang="en-US" sz="1300" dirty="0"/>
          </a:p>
        </p:txBody>
      </p:sp>
      <p:sp>
        <p:nvSpPr>
          <p:cNvPr id="17" name="Shape 15"/>
          <p:cNvSpPr/>
          <p:nvPr/>
        </p:nvSpPr>
        <p:spPr>
          <a:xfrm>
            <a:off x="6400800" y="2322576"/>
            <a:ext cx="1188720" cy="237744"/>
          </a:xfrm>
          <a:prstGeom prst="roundRect">
            <a:avLst>
              <a:gd name="adj" fmla="val 19231"/>
            </a:avLst>
          </a:prstGeom>
          <a:solidFill>
            <a:srgbClr val="D97706"/>
          </a:solidFill>
          <a:ln/>
        </p:spPr>
      </p:sp>
      <p:sp>
        <p:nvSpPr>
          <p:cNvPr id="18" name="Text 16"/>
          <p:cNvSpPr/>
          <p:nvPr/>
        </p:nvSpPr>
        <p:spPr>
          <a:xfrm>
            <a:off x="6400800" y="2322576"/>
            <a:ext cx="1188720" cy="237744"/>
          </a:xfrm>
          <a:prstGeom prst="rect">
            <a:avLst/>
          </a:prstGeom>
          <a:noFill/>
          <a:ln/>
        </p:spPr>
        <p:txBody>
          <a:bodyPr wrap="square" rtlCol="0" anchor="ctr"/>
          <a:lstStyle/>
          <a:p>
            <a:pPr algn="ctr" indent="0" marL="0">
              <a:buNone/>
            </a:pPr>
            <a:r>
              <a:rPr lang="en-US" sz="750" b="1" dirty="0">
                <a:solidFill>
                  <a:srgbClr val="FFFFFF"/>
                </a:solidFill>
              </a:rPr>
              <a:t>CSO + Medical Affairs</a:t>
            </a:r>
            <a:endParaRPr lang="en-US" sz="750" dirty="0"/>
          </a:p>
        </p:txBody>
      </p:sp>
      <p:sp>
        <p:nvSpPr>
          <p:cNvPr id="19" name="Shape 17"/>
          <p:cNvSpPr/>
          <p:nvPr/>
        </p:nvSpPr>
        <p:spPr>
          <a:xfrm>
            <a:off x="7699248" y="2322576"/>
            <a:ext cx="1051560" cy="237744"/>
          </a:xfrm>
          <a:prstGeom prst="roundRect">
            <a:avLst>
              <a:gd name="adj" fmla="val 19231"/>
            </a:avLst>
          </a:prstGeom>
          <a:solidFill>
            <a:srgbClr val="FFFFFF">
              <a:alpha val="20000"/>
            </a:srgbClr>
          </a:solidFill>
          <a:ln/>
        </p:spPr>
      </p:sp>
      <p:sp>
        <p:nvSpPr>
          <p:cNvPr id="20" name="Text 18"/>
          <p:cNvSpPr/>
          <p:nvPr/>
        </p:nvSpPr>
        <p:spPr>
          <a:xfrm>
            <a:off x="7699248" y="2322576"/>
            <a:ext cx="1051560" cy="237744"/>
          </a:xfrm>
          <a:prstGeom prst="rect">
            <a:avLst/>
          </a:prstGeom>
          <a:noFill/>
          <a:ln/>
        </p:spPr>
        <p:txBody>
          <a:bodyPr wrap="square" rtlCol="0" anchor="ctr"/>
          <a:lstStyle/>
          <a:p>
            <a:pPr algn="ctr" indent="0" marL="0">
              <a:buNone/>
            </a:pPr>
            <a:r>
              <a:rPr lang="en-US" sz="750" dirty="0">
                <a:solidFill>
                  <a:srgbClr val="FFFFFF"/>
                </a:solidFill>
              </a:rPr>
              <a:t>Within 60 days</a:t>
            </a:r>
            <a:endParaRPr lang="en-US" sz="750" dirty="0"/>
          </a:p>
        </p:txBody>
      </p:sp>
      <p:sp>
        <p:nvSpPr>
          <p:cNvPr id="21" name="Text 19"/>
          <p:cNvSpPr/>
          <p:nvPr/>
        </p:nvSpPr>
        <p:spPr>
          <a:xfrm>
            <a:off x="1261872" y="2688336"/>
            <a:ext cx="7178040" cy="713232"/>
          </a:xfrm>
          <a:prstGeom prst="rect">
            <a:avLst/>
          </a:prstGeom>
          <a:noFill/>
          <a:ln/>
        </p:spPr>
        <p:txBody>
          <a:bodyPr wrap="square" rtlCol="0" anchor="ctr"/>
          <a:lstStyle/>
          <a:p>
            <a:pPr indent="0" marL="0">
              <a:lnSpc>
                <a:spcPct val="140000"/>
              </a:lnSpc>
              <a:buNone/>
            </a:pPr>
            <a:r>
              <a:rPr lang="en-US" sz="1000" dirty="0">
                <a:solidFill>
                  <a:srgbClr val="94A3B8"/>
                </a:solidFill>
              </a:rPr>
              <a:t>The data shows a structural drift in aspirin demand. Before the next annual plan is locked, your commercial and medical affairs teams should validate whether this trend is present in your specific customer base and geographies. This decision should be deliberate, not a default.</a:t>
            </a:r>
            <a:endParaRPr lang="en-US" sz="1000" dirty="0"/>
          </a:p>
        </p:txBody>
      </p:sp>
      <p:sp>
        <p:nvSpPr>
          <p:cNvPr id="22" name="Shape 20"/>
          <p:cNvSpPr/>
          <p:nvPr/>
        </p:nvSpPr>
        <p:spPr>
          <a:xfrm>
            <a:off x="320040" y="3621024"/>
            <a:ext cx="8503920" cy="1261872"/>
          </a:xfrm>
          <a:prstGeom prst="rect">
            <a:avLst/>
          </a:prstGeom>
          <a:solidFill>
            <a:srgbClr val="102A45"/>
          </a:solidFill>
          <a:ln/>
          <a:effectLst>
            <a:outerShdw sx="100000" sy="100000" kx="0" ky="0" algn="bl" rotWithShape="0" blurRad="101600" dist="38100" dir="8100000">
              <a:srgbClr val="000000">
                <a:alpha val="14000"/>
              </a:srgbClr>
            </a:outerShdw>
          </a:effectLst>
        </p:spPr>
      </p:sp>
      <p:sp>
        <p:nvSpPr>
          <p:cNvPr id="23" name="Shape 21"/>
          <p:cNvSpPr/>
          <p:nvPr/>
        </p:nvSpPr>
        <p:spPr>
          <a:xfrm>
            <a:off x="320040" y="3621024"/>
            <a:ext cx="73152" cy="1261872"/>
          </a:xfrm>
          <a:prstGeom prst="rect">
            <a:avLst/>
          </a:prstGeom>
          <a:solidFill>
            <a:srgbClr val="028090"/>
          </a:solidFill>
          <a:ln/>
        </p:spPr>
      </p:sp>
      <p:sp>
        <p:nvSpPr>
          <p:cNvPr id="24" name="Text 22"/>
          <p:cNvSpPr/>
          <p:nvPr/>
        </p:nvSpPr>
        <p:spPr>
          <a:xfrm>
            <a:off x="384048" y="3639312"/>
            <a:ext cx="777240" cy="1042416"/>
          </a:xfrm>
          <a:prstGeom prst="rect">
            <a:avLst/>
          </a:prstGeom>
          <a:noFill/>
          <a:ln/>
        </p:spPr>
        <p:txBody>
          <a:bodyPr wrap="square" rtlCol="0" anchor="ctr"/>
          <a:lstStyle/>
          <a:p>
            <a:pPr algn="ctr" indent="0" marL="0">
              <a:buNone/>
            </a:pPr>
            <a:r>
              <a:rPr lang="en-US" sz="2800" b="1" dirty="0">
                <a:solidFill>
                  <a:srgbClr val="028090"/>
                </a:solidFill>
              </a:rPr>
              <a:t>03</a:t>
            </a:r>
            <a:endParaRPr lang="en-US" sz="2800" dirty="0"/>
          </a:p>
        </p:txBody>
      </p:sp>
      <p:sp>
        <p:nvSpPr>
          <p:cNvPr id="25" name="Text 23"/>
          <p:cNvSpPr/>
          <p:nvPr/>
        </p:nvSpPr>
        <p:spPr>
          <a:xfrm>
            <a:off x="1261872" y="3730752"/>
            <a:ext cx="4937760" cy="347472"/>
          </a:xfrm>
          <a:prstGeom prst="rect">
            <a:avLst/>
          </a:prstGeom>
          <a:noFill/>
          <a:ln/>
        </p:spPr>
        <p:txBody>
          <a:bodyPr wrap="square" rtlCol="0" anchor="ctr"/>
          <a:lstStyle/>
          <a:p>
            <a:pPr indent="0" marL="0">
              <a:buNone/>
            </a:pPr>
            <a:r>
              <a:rPr lang="en-US" sz="1300" b="1" dirty="0">
                <a:solidFill>
                  <a:srgbClr val="FFFFFF"/>
                </a:solidFill>
              </a:rPr>
              <a:t>Deploy forecasting as a live operational tool</a:t>
            </a:r>
            <a:endParaRPr lang="en-US" sz="1300" dirty="0"/>
          </a:p>
        </p:txBody>
      </p:sp>
      <p:sp>
        <p:nvSpPr>
          <p:cNvPr id="26" name="Shape 24"/>
          <p:cNvSpPr/>
          <p:nvPr/>
        </p:nvSpPr>
        <p:spPr>
          <a:xfrm>
            <a:off x="6400800" y="3730752"/>
            <a:ext cx="1188720" cy="237744"/>
          </a:xfrm>
          <a:prstGeom prst="roundRect">
            <a:avLst>
              <a:gd name="adj" fmla="val 19231"/>
            </a:avLst>
          </a:prstGeom>
          <a:solidFill>
            <a:srgbClr val="028090"/>
          </a:solidFill>
          <a:ln/>
        </p:spPr>
      </p:sp>
      <p:sp>
        <p:nvSpPr>
          <p:cNvPr id="27" name="Text 25"/>
          <p:cNvSpPr/>
          <p:nvPr/>
        </p:nvSpPr>
        <p:spPr>
          <a:xfrm>
            <a:off x="6400800" y="3730752"/>
            <a:ext cx="1188720" cy="237744"/>
          </a:xfrm>
          <a:prstGeom prst="rect">
            <a:avLst/>
          </a:prstGeom>
          <a:noFill/>
          <a:ln/>
        </p:spPr>
        <p:txBody>
          <a:bodyPr wrap="square" rtlCol="0" anchor="ctr"/>
          <a:lstStyle/>
          <a:p>
            <a:pPr algn="ctr" indent="0" marL="0">
              <a:buNone/>
            </a:pPr>
            <a:r>
              <a:rPr lang="en-US" sz="750" b="1" dirty="0">
                <a:solidFill>
                  <a:srgbClr val="FFFFFF"/>
                </a:solidFill>
              </a:rPr>
              <a:t>COO + Analytics</a:t>
            </a:r>
            <a:endParaRPr lang="en-US" sz="750" dirty="0"/>
          </a:p>
        </p:txBody>
      </p:sp>
      <p:sp>
        <p:nvSpPr>
          <p:cNvPr id="28" name="Shape 26"/>
          <p:cNvSpPr/>
          <p:nvPr/>
        </p:nvSpPr>
        <p:spPr>
          <a:xfrm>
            <a:off x="7699248" y="3730752"/>
            <a:ext cx="1051560" cy="237744"/>
          </a:xfrm>
          <a:prstGeom prst="roundRect">
            <a:avLst>
              <a:gd name="adj" fmla="val 19231"/>
            </a:avLst>
          </a:prstGeom>
          <a:solidFill>
            <a:srgbClr val="FFFFFF">
              <a:alpha val="20000"/>
            </a:srgbClr>
          </a:solidFill>
          <a:ln/>
        </p:spPr>
      </p:sp>
      <p:sp>
        <p:nvSpPr>
          <p:cNvPr id="29" name="Text 27"/>
          <p:cNvSpPr/>
          <p:nvPr/>
        </p:nvSpPr>
        <p:spPr>
          <a:xfrm>
            <a:off x="7699248" y="3730752"/>
            <a:ext cx="1051560" cy="237744"/>
          </a:xfrm>
          <a:prstGeom prst="rect">
            <a:avLst/>
          </a:prstGeom>
          <a:noFill/>
          <a:ln/>
        </p:spPr>
        <p:txBody>
          <a:bodyPr wrap="square" rtlCol="0" anchor="ctr"/>
          <a:lstStyle/>
          <a:p>
            <a:pPr algn="ctr" indent="0" marL="0">
              <a:buNone/>
            </a:pPr>
            <a:r>
              <a:rPr lang="en-US" sz="750" dirty="0">
                <a:solidFill>
                  <a:srgbClr val="FFFFFF"/>
                </a:solidFill>
              </a:rPr>
              <a:t>Immediate</a:t>
            </a:r>
            <a:endParaRPr lang="en-US" sz="750" dirty="0"/>
          </a:p>
        </p:txBody>
      </p:sp>
      <p:sp>
        <p:nvSpPr>
          <p:cNvPr id="30" name="Text 28"/>
          <p:cNvSpPr/>
          <p:nvPr/>
        </p:nvSpPr>
        <p:spPr>
          <a:xfrm>
            <a:off x="1261872" y="4096512"/>
            <a:ext cx="7178040" cy="713232"/>
          </a:xfrm>
          <a:prstGeom prst="rect">
            <a:avLst/>
          </a:prstGeom>
          <a:noFill/>
          <a:ln/>
        </p:spPr>
        <p:txBody>
          <a:bodyPr wrap="square" rtlCol="0" anchor="ctr"/>
          <a:lstStyle/>
          <a:p>
            <a:pPr indent="0" marL="0">
              <a:lnSpc>
                <a:spcPct val="140000"/>
              </a:lnSpc>
              <a:buNone/>
            </a:pPr>
            <a:r>
              <a:rPr lang="en-US" sz="1000" dirty="0">
                <a:solidFill>
                  <a:srgbClr val="94A3B8"/>
                </a:solidFill>
              </a:rPr>
              <a:t>Short-term forecasting models are ready for production deployment on your Tier 1 drugs today. This means a weekly replenishment signal with measurably better accuracy than your current planning baseline. Seasonal models for R03 and R06 should follow within one quarter, timed to give you a full cycle before their next peak season.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7EB8"/>
          </a:solidFill>
          <a:ln/>
        </p:spPr>
      </p:sp>
      <p:sp>
        <p:nvSpPr>
          <p:cNvPr id="3" name="Shape 1"/>
          <p:cNvSpPr/>
          <p:nvPr/>
        </p:nvSpPr>
        <p:spPr>
          <a:xfrm>
            <a:off x="0" y="4617720"/>
            <a:ext cx="9144000" cy="525780"/>
          </a:xfrm>
          <a:prstGeom prst="rect">
            <a:avLst/>
          </a:prstGeom>
          <a:solidFill>
            <a:srgbClr val="1E3A5F"/>
          </a:solidFill>
          <a:ln/>
        </p:spPr>
      </p:sp>
      <p:sp>
        <p:nvSpPr>
          <p:cNvPr id="4" name="Text 2"/>
          <p:cNvSpPr/>
          <p:nvPr/>
        </p:nvSpPr>
        <p:spPr>
          <a:xfrm>
            <a:off x="411480" y="320040"/>
            <a:ext cx="5486400" cy="640080"/>
          </a:xfrm>
          <a:prstGeom prst="rect">
            <a:avLst/>
          </a:prstGeom>
          <a:noFill/>
          <a:ln/>
        </p:spPr>
        <p:txBody>
          <a:bodyPr wrap="square" rtlCol="0" anchor="ctr"/>
          <a:lstStyle/>
          <a:p>
            <a:pPr indent="0" marL="0">
              <a:buNone/>
            </a:pPr>
            <a:r>
              <a:rPr lang="en-US" sz="3200" b="1" dirty="0">
                <a:solidFill>
                  <a:srgbClr val="FFFFFF"/>
                </a:solidFill>
              </a:rPr>
              <a:t>Where We Go From Here</a:t>
            </a:r>
            <a:endParaRPr lang="en-US" sz="3200" dirty="0"/>
          </a:p>
        </p:txBody>
      </p:sp>
      <p:sp>
        <p:nvSpPr>
          <p:cNvPr id="5" name="Text 3"/>
          <p:cNvSpPr/>
          <p:nvPr/>
        </p:nvSpPr>
        <p:spPr>
          <a:xfrm>
            <a:off x="411480" y="960120"/>
            <a:ext cx="5486400" cy="320040"/>
          </a:xfrm>
          <a:prstGeom prst="rect">
            <a:avLst/>
          </a:prstGeom>
          <a:noFill/>
          <a:ln/>
        </p:spPr>
        <p:txBody>
          <a:bodyPr wrap="square" rtlCol="0" anchor="ctr"/>
          <a:lstStyle/>
          <a:p>
            <a:pPr indent="0" marL="0">
              <a:buNone/>
            </a:pPr>
            <a:r>
              <a:rPr lang="en-US" sz="1300" dirty="0">
                <a:solidFill>
                  <a:srgbClr val="94A3B8"/>
                </a:solidFill>
              </a:rPr>
              <a:t>Proposed next steps for leadership review and sign-off</a:t>
            </a:r>
            <a:endParaRPr lang="en-US" sz="1300" dirty="0"/>
          </a:p>
        </p:txBody>
      </p:sp>
      <p:sp>
        <p:nvSpPr>
          <p:cNvPr id="6" name="Shape 4"/>
          <p:cNvSpPr/>
          <p:nvPr/>
        </p:nvSpPr>
        <p:spPr>
          <a:xfrm>
            <a:off x="411480" y="1499616"/>
            <a:ext cx="960120" cy="548640"/>
          </a:xfrm>
          <a:prstGeom prst="rect">
            <a:avLst/>
          </a:prstGeom>
          <a:solidFill>
            <a:srgbClr val="0F7EB8"/>
          </a:solidFill>
          <a:ln/>
        </p:spPr>
      </p:sp>
      <p:sp>
        <p:nvSpPr>
          <p:cNvPr id="7" name="Text 5"/>
          <p:cNvSpPr/>
          <p:nvPr/>
        </p:nvSpPr>
        <p:spPr>
          <a:xfrm>
            <a:off x="411480" y="1499616"/>
            <a:ext cx="960120" cy="548640"/>
          </a:xfrm>
          <a:prstGeom prst="rect">
            <a:avLst/>
          </a:prstGeom>
          <a:noFill/>
          <a:ln/>
        </p:spPr>
        <p:txBody>
          <a:bodyPr wrap="square" rtlCol="0" anchor="ctr"/>
          <a:lstStyle/>
          <a:p>
            <a:pPr algn="ctr" indent="0" marL="0">
              <a:buNone/>
            </a:pPr>
            <a:r>
              <a:rPr lang="en-US" sz="1100" b="1" dirty="0">
                <a:solidFill>
                  <a:srgbClr val="FFFFFF"/>
                </a:solidFill>
              </a:rPr>
              <a:t>Now</a:t>
            </a:r>
            <a:endParaRPr lang="en-US" sz="1100" dirty="0"/>
          </a:p>
        </p:txBody>
      </p:sp>
      <p:sp>
        <p:nvSpPr>
          <p:cNvPr id="8" name="Shape 6"/>
          <p:cNvSpPr/>
          <p:nvPr/>
        </p:nvSpPr>
        <p:spPr>
          <a:xfrm>
            <a:off x="1508760" y="1444752"/>
            <a:ext cx="7132320" cy="658368"/>
          </a:xfrm>
          <a:prstGeom prst="rect">
            <a:avLst/>
          </a:prstGeom>
          <a:solidFill>
            <a:srgbClr val="102A45"/>
          </a:solidFill>
          <a:ln/>
        </p:spPr>
      </p:sp>
      <p:sp>
        <p:nvSpPr>
          <p:cNvPr id="9" name="Text 7"/>
          <p:cNvSpPr/>
          <p:nvPr/>
        </p:nvSpPr>
        <p:spPr>
          <a:xfrm>
            <a:off x="1645920" y="1481328"/>
            <a:ext cx="6858000" cy="274320"/>
          </a:xfrm>
          <a:prstGeom prst="rect">
            <a:avLst/>
          </a:prstGeom>
          <a:noFill/>
          <a:ln/>
        </p:spPr>
        <p:txBody>
          <a:bodyPr wrap="square" rtlCol="0" anchor="ctr"/>
          <a:lstStyle/>
          <a:p>
            <a:pPr indent="0" marL="0">
              <a:buNone/>
            </a:pPr>
            <a:r>
              <a:rPr lang="en-US" sz="1200" b="1" dirty="0">
                <a:solidFill>
                  <a:srgbClr val="FFFFFF"/>
                </a:solidFill>
              </a:rPr>
              <a:t>Activate weekly ARIMA forecasts</a:t>
            </a:r>
            <a:endParaRPr lang="en-US" sz="1200" dirty="0"/>
          </a:p>
        </p:txBody>
      </p:sp>
      <p:sp>
        <p:nvSpPr>
          <p:cNvPr id="10" name="Text 8"/>
          <p:cNvSpPr/>
          <p:nvPr/>
        </p:nvSpPr>
        <p:spPr>
          <a:xfrm>
            <a:off x="1645920" y="1764792"/>
            <a:ext cx="6858000" cy="274320"/>
          </a:xfrm>
          <a:prstGeom prst="rect">
            <a:avLst/>
          </a:prstGeom>
          <a:noFill/>
          <a:ln/>
        </p:spPr>
        <p:txBody>
          <a:bodyPr wrap="square" rtlCol="0" anchor="ctr"/>
          <a:lstStyle/>
          <a:p>
            <a:pPr indent="0" marL="0">
              <a:buNone/>
            </a:pPr>
            <a:r>
              <a:rPr lang="en-US" sz="1000" dirty="0">
                <a:solidFill>
                  <a:srgbClr val="94A3B8"/>
                </a:solidFill>
              </a:rPr>
              <a:t>Deploy replenishment signal for Tier 1 analgesic/anti-inflammatory lines. No further model work needed — this is production-ready.</a:t>
            </a:r>
            <a:endParaRPr lang="en-US" sz="1000" dirty="0"/>
          </a:p>
        </p:txBody>
      </p:sp>
      <p:sp>
        <p:nvSpPr>
          <p:cNvPr id="11" name="Shape 9"/>
          <p:cNvSpPr/>
          <p:nvPr/>
        </p:nvSpPr>
        <p:spPr>
          <a:xfrm>
            <a:off x="1371600" y="1700784"/>
            <a:ext cx="137160" cy="137160"/>
          </a:xfrm>
          <a:prstGeom prst="ellipse">
            <a:avLst/>
          </a:prstGeom>
          <a:solidFill>
            <a:srgbClr val="0F7EB8"/>
          </a:solidFill>
          <a:ln/>
        </p:spPr>
      </p:sp>
      <p:sp>
        <p:nvSpPr>
          <p:cNvPr id="12" name="Shape 10"/>
          <p:cNvSpPr/>
          <p:nvPr/>
        </p:nvSpPr>
        <p:spPr>
          <a:xfrm>
            <a:off x="411480" y="2267712"/>
            <a:ext cx="960120" cy="548640"/>
          </a:xfrm>
          <a:prstGeom prst="rect">
            <a:avLst/>
          </a:prstGeom>
          <a:solidFill>
            <a:srgbClr val="0F7EB8"/>
          </a:solidFill>
          <a:ln/>
        </p:spPr>
      </p:sp>
      <p:sp>
        <p:nvSpPr>
          <p:cNvPr id="13" name="Text 11"/>
          <p:cNvSpPr/>
          <p:nvPr/>
        </p:nvSpPr>
        <p:spPr>
          <a:xfrm>
            <a:off x="411480" y="2267712"/>
            <a:ext cx="960120" cy="548640"/>
          </a:xfrm>
          <a:prstGeom prst="rect">
            <a:avLst/>
          </a:prstGeom>
          <a:noFill/>
          <a:ln/>
        </p:spPr>
        <p:txBody>
          <a:bodyPr wrap="square" rtlCol="0" anchor="ctr"/>
          <a:lstStyle/>
          <a:p>
            <a:pPr algn="ctr" indent="0" marL="0">
              <a:buNone/>
            </a:pPr>
            <a:r>
              <a:rPr lang="en-US" sz="1100" b="1" dirty="0">
                <a:solidFill>
                  <a:srgbClr val="FFFFFF"/>
                </a:solidFill>
              </a:rPr>
              <a:t>30 days</a:t>
            </a:r>
            <a:endParaRPr lang="en-US" sz="1100" dirty="0"/>
          </a:p>
        </p:txBody>
      </p:sp>
      <p:sp>
        <p:nvSpPr>
          <p:cNvPr id="14" name="Shape 12"/>
          <p:cNvSpPr/>
          <p:nvPr/>
        </p:nvSpPr>
        <p:spPr>
          <a:xfrm>
            <a:off x="1508760" y="2212848"/>
            <a:ext cx="7132320" cy="658368"/>
          </a:xfrm>
          <a:prstGeom prst="rect">
            <a:avLst/>
          </a:prstGeom>
          <a:solidFill>
            <a:srgbClr val="102A45"/>
          </a:solidFill>
          <a:ln/>
        </p:spPr>
      </p:sp>
      <p:sp>
        <p:nvSpPr>
          <p:cNvPr id="15" name="Text 13"/>
          <p:cNvSpPr/>
          <p:nvPr/>
        </p:nvSpPr>
        <p:spPr>
          <a:xfrm>
            <a:off x="1645920" y="2249424"/>
            <a:ext cx="6858000" cy="274320"/>
          </a:xfrm>
          <a:prstGeom prst="rect">
            <a:avLst/>
          </a:prstGeom>
          <a:noFill/>
          <a:ln/>
        </p:spPr>
        <p:txBody>
          <a:bodyPr wrap="square" rtlCol="0" anchor="ctr"/>
          <a:lstStyle/>
          <a:p>
            <a:pPr indent="0" marL="0">
              <a:buNone/>
            </a:pPr>
            <a:r>
              <a:rPr lang="en-US" sz="1200" b="1" dirty="0">
                <a:solidFill>
                  <a:srgbClr val="FFFFFF"/>
                </a:solidFill>
              </a:rPr>
              <a:t>Complete aspirin commercial review</a:t>
            </a:r>
            <a:endParaRPr lang="en-US" sz="1200" dirty="0"/>
          </a:p>
        </p:txBody>
      </p:sp>
      <p:sp>
        <p:nvSpPr>
          <p:cNvPr id="16" name="Text 14"/>
          <p:cNvSpPr/>
          <p:nvPr/>
        </p:nvSpPr>
        <p:spPr>
          <a:xfrm>
            <a:off x="1645920" y="2532888"/>
            <a:ext cx="6858000" cy="274320"/>
          </a:xfrm>
          <a:prstGeom prst="rect">
            <a:avLst/>
          </a:prstGeom>
          <a:noFill/>
          <a:ln/>
        </p:spPr>
        <p:txBody>
          <a:bodyPr wrap="square" rtlCol="0" anchor="ctr"/>
          <a:lstStyle/>
          <a:p>
            <a:pPr indent="0" marL="0">
              <a:buNone/>
            </a:pPr>
            <a:r>
              <a:rPr lang="en-US" sz="1000" dirty="0">
                <a:solidFill>
                  <a:srgbClr val="94A3B8"/>
                </a:solidFill>
              </a:rPr>
              <a:t>Assign ownership to CSO office. Decision needed before annual planning cycle locks procurement volumes.</a:t>
            </a:r>
            <a:endParaRPr lang="en-US" sz="1000" dirty="0"/>
          </a:p>
        </p:txBody>
      </p:sp>
      <p:sp>
        <p:nvSpPr>
          <p:cNvPr id="17" name="Shape 15"/>
          <p:cNvSpPr/>
          <p:nvPr/>
        </p:nvSpPr>
        <p:spPr>
          <a:xfrm>
            <a:off x="1371600" y="2468880"/>
            <a:ext cx="137160" cy="137160"/>
          </a:xfrm>
          <a:prstGeom prst="ellipse">
            <a:avLst/>
          </a:prstGeom>
          <a:solidFill>
            <a:srgbClr val="0F7EB8"/>
          </a:solidFill>
          <a:ln/>
        </p:spPr>
      </p:sp>
      <p:sp>
        <p:nvSpPr>
          <p:cNvPr id="18" name="Shape 16"/>
          <p:cNvSpPr/>
          <p:nvPr/>
        </p:nvSpPr>
        <p:spPr>
          <a:xfrm>
            <a:off x="411480" y="3035808"/>
            <a:ext cx="960120" cy="548640"/>
          </a:xfrm>
          <a:prstGeom prst="rect">
            <a:avLst/>
          </a:prstGeom>
          <a:solidFill>
            <a:srgbClr val="0F7EB8"/>
          </a:solidFill>
          <a:ln/>
        </p:spPr>
      </p:sp>
      <p:sp>
        <p:nvSpPr>
          <p:cNvPr id="19" name="Text 17"/>
          <p:cNvSpPr/>
          <p:nvPr/>
        </p:nvSpPr>
        <p:spPr>
          <a:xfrm>
            <a:off x="411480" y="3035808"/>
            <a:ext cx="960120" cy="548640"/>
          </a:xfrm>
          <a:prstGeom prst="rect">
            <a:avLst/>
          </a:prstGeom>
          <a:noFill/>
          <a:ln/>
        </p:spPr>
        <p:txBody>
          <a:bodyPr wrap="square" rtlCol="0" anchor="ctr"/>
          <a:lstStyle/>
          <a:p>
            <a:pPr algn="ctr" indent="0" marL="0">
              <a:buNone/>
            </a:pPr>
            <a:r>
              <a:rPr lang="en-US" sz="1100" b="1" dirty="0">
                <a:solidFill>
                  <a:srgbClr val="FFFFFF"/>
                </a:solidFill>
              </a:rPr>
              <a:t>90 days</a:t>
            </a:r>
            <a:endParaRPr lang="en-US" sz="1100" dirty="0"/>
          </a:p>
        </p:txBody>
      </p:sp>
      <p:sp>
        <p:nvSpPr>
          <p:cNvPr id="20" name="Shape 18"/>
          <p:cNvSpPr/>
          <p:nvPr/>
        </p:nvSpPr>
        <p:spPr>
          <a:xfrm>
            <a:off x="1508760" y="2980944"/>
            <a:ext cx="7132320" cy="658368"/>
          </a:xfrm>
          <a:prstGeom prst="rect">
            <a:avLst/>
          </a:prstGeom>
          <a:solidFill>
            <a:srgbClr val="102A45"/>
          </a:solidFill>
          <a:ln/>
        </p:spPr>
      </p:sp>
      <p:sp>
        <p:nvSpPr>
          <p:cNvPr id="21" name="Text 19"/>
          <p:cNvSpPr/>
          <p:nvPr/>
        </p:nvSpPr>
        <p:spPr>
          <a:xfrm>
            <a:off x="1645920" y="3017520"/>
            <a:ext cx="6858000" cy="274320"/>
          </a:xfrm>
          <a:prstGeom prst="rect">
            <a:avLst/>
          </a:prstGeom>
          <a:noFill/>
          <a:ln/>
        </p:spPr>
        <p:txBody>
          <a:bodyPr wrap="square" rtlCol="0" anchor="ctr"/>
          <a:lstStyle/>
          <a:p>
            <a:pPr indent="0" marL="0">
              <a:buNone/>
            </a:pPr>
            <a:r>
              <a:rPr lang="en-US" sz="1200" b="1" dirty="0">
                <a:solidFill>
                  <a:srgbClr val="FFFFFF"/>
                </a:solidFill>
              </a:rPr>
              <a:t>Deploy seasonal models for R03 &amp; R06</a:t>
            </a:r>
            <a:endParaRPr lang="en-US" sz="1200" dirty="0"/>
          </a:p>
        </p:txBody>
      </p:sp>
      <p:sp>
        <p:nvSpPr>
          <p:cNvPr id="22" name="Text 20"/>
          <p:cNvSpPr/>
          <p:nvPr/>
        </p:nvSpPr>
        <p:spPr>
          <a:xfrm>
            <a:off x="1645920" y="3300984"/>
            <a:ext cx="6858000" cy="274320"/>
          </a:xfrm>
          <a:prstGeom prst="rect">
            <a:avLst/>
          </a:prstGeom>
          <a:noFill/>
          <a:ln/>
        </p:spPr>
        <p:txBody>
          <a:bodyPr wrap="square" rtlCol="0" anchor="ctr"/>
          <a:lstStyle/>
          <a:p>
            <a:pPr indent="0" marL="0">
              <a:buNone/>
            </a:pPr>
            <a:r>
              <a:rPr lang="en-US" sz="1000" dirty="0">
                <a:solidFill>
                  <a:srgbClr val="94A3B8"/>
                </a:solidFill>
              </a:rPr>
              <a:t>Timing is critical — models must be live before respiratory season begins for procurement decisions to be actionable.</a:t>
            </a:r>
            <a:endParaRPr lang="en-US" sz="1000" dirty="0"/>
          </a:p>
        </p:txBody>
      </p:sp>
      <p:sp>
        <p:nvSpPr>
          <p:cNvPr id="23" name="Shape 21"/>
          <p:cNvSpPr/>
          <p:nvPr/>
        </p:nvSpPr>
        <p:spPr>
          <a:xfrm>
            <a:off x="1371600" y="3236976"/>
            <a:ext cx="137160" cy="137160"/>
          </a:xfrm>
          <a:prstGeom prst="ellipse">
            <a:avLst/>
          </a:prstGeom>
          <a:solidFill>
            <a:srgbClr val="0F7EB8"/>
          </a:solidFill>
          <a:ln/>
        </p:spPr>
      </p:sp>
      <p:sp>
        <p:nvSpPr>
          <p:cNvPr id="24" name="Shape 22"/>
          <p:cNvSpPr/>
          <p:nvPr/>
        </p:nvSpPr>
        <p:spPr>
          <a:xfrm>
            <a:off x="411480" y="3803904"/>
            <a:ext cx="960120" cy="548640"/>
          </a:xfrm>
          <a:prstGeom prst="rect">
            <a:avLst/>
          </a:prstGeom>
          <a:solidFill>
            <a:srgbClr val="0F7EB8"/>
          </a:solidFill>
          <a:ln/>
        </p:spPr>
      </p:sp>
      <p:sp>
        <p:nvSpPr>
          <p:cNvPr id="25" name="Text 23"/>
          <p:cNvSpPr/>
          <p:nvPr/>
        </p:nvSpPr>
        <p:spPr>
          <a:xfrm>
            <a:off x="411480" y="3803904"/>
            <a:ext cx="960120" cy="548640"/>
          </a:xfrm>
          <a:prstGeom prst="rect">
            <a:avLst/>
          </a:prstGeom>
          <a:noFill/>
          <a:ln/>
        </p:spPr>
        <p:txBody>
          <a:bodyPr wrap="square" rtlCol="0" anchor="ctr"/>
          <a:lstStyle/>
          <a:p>
            <a:pPr algn="ctr" indent="0" marL="0">
              <a:buNone/>
            </a:pPr>
            <a:r>
              <a:rPr lang="en-US" sz="1100" b="1" dirty="0">
                <a:solidFill>
                  <a:srgbClr val="FFFFFF"/>
                </a:solidFill>
              </a:rPr>
              <a:t>Ongoing</a:t>
            </a:r>
            <a:endParaRPr lang="en-US" sz="1100" dirty="0"/>
          </a:p>
        </p:txBody>
      </p:sp>
      <p:sp>
        <p:nvSpPr>
          <p:cNvPr id="26" name="Shape 24"/>
          <p:cNvSpPr/>
          <p:nvPr/>
        </p:nvSpPr>
        <p:spPr>
          <a:xfrm>
            <a:off x="1508760" y="3749040"/>
            <a:ext cx="7132320" cy="658368"/>
          </a:xfrm>
          <a:prstGeom prst="rect">
            <a:avLst/>
          </a:prstGeom>
          <a:solidFill>
            <a:srgbClr val="102A45"/>
          </a:solidFill>
          <a:ln/>
        </p:spPr>
      </p:sp>
      <p:sp>
        <p:nvSpPr>
          <p:cNvPr id="27" name="Text 25"/>
          <p:cNvSpPr/>
          <p:nvPr/>
        </p:nvSpPr>
        <p:spPr>
          <a:xfrm>
            <a:off x="1645920" y="3785616"/>
            <a:ext cx="6858000" cy="274320"/>
          </a:xfrm>
          <a:prstGeom prst="rect">
            <a:avLst/>
          </a:prstGeom>
          <a:noFill/>
          <a:ln/>
        </p:spPr>
        <p:txBody>
          <a:bodyPr wrap="square" rtlCol="0" anchor="ctr"/>
          <a:lstStyle/>
          <a:p>
            <a:pPr indent="0" marL="0">
              <a:buNone/>
            </a:pPr>
            <a:r>
              <a:rPr lang="en-US" sz="1200" b="1" dirty="0">
                <a:solidFill>
                  <a:srgbClr val="FFFFFF"/>
                </a:solidFill>
              </a:rPr>
              <a:t>Establish S&amp;OP analytics cadence</a:t>
            </a:r>
            <a:endParaRPr lang="en-US" sz="1200" dirty="0"/>
          </a:p>
        </p:txBody>
      </p:sp>
      <p:sp>
        <p:nvSpPr>
          <p:cNvPr id="28" name="Text 26"/>
          <p:cNvSpPr/>
          <p:nvPr/>
        </p:nvSpPr>
        <p:spPr>
          <a:xfrm>
            <a:off x="1645920" y="4069080"/>
            <a:ext cx="6858000" cy="274320"/>
          </a:xfrm>
          <a:prstGeom prst="rect">
            <a:avLst/>
          </a:prstGeom>
          <a:noFill/>
          <a:ln/>
        </p:spPr>
        <p:txBody>
          <a:bodyPr wrap="square" rtlCol="0" anchor="ctr"/>
          <a:lstStyle/>
          <a:p>
            <a:pPr indent="0" marL="0">
              <a:buNone/>
            </a:pPr>
            <a:r>
              <a:rPr lang="en-US" sz="1000" dirty="0">
                <a:solidFill>
                  <a:srgbClr val="94A3B8"/>
                </a:solidFill>
              </a:rPr>
              <a:t>Sedatives and anxiolytics should be reviewed in S&amp;OP monthly, with a standing agenda item for external signal monitoring.</a:t>
            </a:r>
            <a:endParaRPr lang="en-US" sz="1000" dirty="0"/>
          </a:p>
        </p:txBody>
      </p:sp>
      <p:sp>
        <p:nvSpPr>
          <p:cNvPr id="29" name="Shape 27"/>
          <p:cNvSpPr/>
          <p:nvPr/>
        </p:nvSpPr>
        <p:spPr>
          <a:xfrm>
            <a:off x="1371600" y="4005072"/>
            <a:ext cx="137160" cy="137160"/>
          </a:xfrm>
          <a:prstGeom prst="ellipse">
            <a:avLst/>
          </a:prstGeom>
          <a:solidFill>
            <a:srgbClr val="0F7EB8"/>
          </a:solidFill>
          <a:ln/>
        </p:spPr>
      </p:sp>
      <p:sp>
        <p:nvSpPr>
          <p:cNvPr id="30" name="Text 28"/>
          <p:cNvSpPr/>
          <p:nvPr/>
        </p:nvSpPr>
        <p:spPr>
          <a:xfrm>
            <a:off x="411480" y="4663440"/>
            <a:ext cx="8229600" cy="365760"/>
          </a:xfrm>
          <a:prstGeom prst="rect">
            <a:avLst/>
          </a:prstGeom>
          <a:noFill/>
          <a:ln/>
        </p:spPr>
        <p:txBody>
          <a:bodyPr wrap="square" rtlCol="0" anchor="ctr"/>
          <a:lstStyle/>
          <a:p>
            <a:pPr indent="0" marL="0">
              <a:buNone/>
            </a:pPr>
            <a:r>
              <a:rPr lang="en-US" sz="950" dirty="0">
                <a:solidFill>
                  <a:srgbClr val="94A3B8"/>
                </a:solidFill>
              </a:rPr>
              <a:t>Data Science &amp; Analytics  |  For Board Discussion  |  Confidential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 Sales Analytics – QBR</dc:title>
  <dc:subject>PptxGenJS Presentation</dc:subject>
  <dc:creator>PptxGenJS</dc:creator>
  <cp:lastModifiedBy>PptxGenJS</cp:lastModifiedBy>
  <cp:revision>1</cp:revision>
  <dcterms:created xsi:type="dcterms:W3CDTF">2026-04-12T07:42:23Z</dcterms:created>
  <dcterms:modified xsi:type="dcterms:W3CDTF">2026-04-12T07:42:23Z</dcterms:modified>
</cp:coreProperties>
</file>